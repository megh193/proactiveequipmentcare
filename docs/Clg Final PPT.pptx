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3" r:id="rId2"/>
    <p:sldId id="257" r:id="rId3"/>
    <p:sldId id="258" r:id="rId4"/>
    <p:sldId id="265" r:id="rId5"/>
    <p:sldId id="266" r:id="rId6"/>
    <p:sldId id="267" r:id="rId7"/>
    <p:sldId id="269" r:id="rId8"/>
    <p:sldId id="277" r:id="rId9"/>
    <p:sldId id="268" r:id="rId10"/>
    <p:sldId id="276" r:id="rId11"/>
    <p:sldId id="278" r:id="rId12"/>
    <p:sldId id="275" r:id="rId13"/>
    <p:sldId id="273" r:id="rId14"/>
    <p:sldId id="274" r:id="rId15"/>
    <p:sldId id="26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ED7E8-5420-4F73-BA32-34A7030FE7D8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95739-CA6B-4BAB-AD11-B86E0C911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3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2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62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02450-8B39-F9CA-E016-C63037C76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3FE313-8E88-5B11-958B-E3781291F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461F2-1A74-5FDD-6A89-637D63809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35333-5B22-AF69-0FF7-0BA3A4DEE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14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ABF4-46F1-C9F1-252B-96D978B88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37ED3B-9C64-DE0E-1D3B-33B0484804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8D629-91BD-8FD4-A04A-812F6AB09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DEEEF-8AB6-54C7-1B2D-CF1CA1BFC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22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ADCC8-95E4-F662-D473-8EF8626B8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561AF-B228-4531-28D2-B9787D611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315E2E-BA06-1825-27C9-99FEB2383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09298-EA17-E481-F871-555031D85A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50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942D6-E31F-FFE6-A59E-915AB5EC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2B545-B0E3-78C6-9B5C-090470015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4C096-B68B-E1D9-EBE8-0EF7C49E1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D7E46-440C-2D22-27AF-A5CF22E55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573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70177-3241-9787-8FE5-3D1C2A89A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88FAA-6752-76D2-42E8-86B0DFEA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3514B-0B70-4F72-4C68-263FBD4C0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838BE-C6D7-DA61-D913-0B10FBE48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8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08448-B8B0-D313-353E-616DAB30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BF45A-57FC-E02F-0E13-98B270F2E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0D77E-5AFF-628E-BA6B-5F8BFAABF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C16C0D-5708-C253-C2C7-3B59122C5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15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C0CD1-222A-2147-9291-D5B053D0A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ACB35-1F5D-C620-CE67-B9F5E53D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E7F03A-0914-8C88-0EC3-21F6D5302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760B8-735B-335F-6D0B-235D1346A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90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DF7F0-CC61-0DD1-055A-F106F796F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8D146-8DAE-35FF-57CD-485C70333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C9F5A-2EBC-AF4C-8320-5FFC89BA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B2B5C-B1F1-431B-640B-7BDB9E1A2D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732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9C80-4B9D-BEE6-6F02-16BB3B29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E5FF-AE4F-40ED-4CAF-545950D88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433B1-8E56-3BA3-3A4D-10DE2621D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6A3AD-5EF2-3443-DE66-5A36B7897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32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207F-A8E3-9325-929A-4A86D8CD9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BE39E-C925-80AB-F0EB-D1B13A9EB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1D590E-474B-8514-7CCF-C90687E4C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90650-2AB9-69F2-BF0E-63871A682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9E7F2-498D-45ED-A645-8BBCF90873D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5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F3568-8D0F-12B2-1664-184786A5F8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56AF0-759A-A4E3-2645-C80D3FF38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588D2-B229-8CAE-A88C-CEE86B58E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36696-14B1-63FA-A611-C72414BCC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D547-75DA-E272-930D-FAA153520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8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F180D-165A-539F-988D-0EB996D7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A583E-A70C-7C45-8107-25C7E2C5F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87647-B41E-A018-6CEB-6C853E55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DC4F3-C258-6D8F-01A9-3B559F7E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E4EC3-6EA3-5F2C-BF6F-00173D929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81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CAD91-10E8-66E0-7116-9E05A14B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B0959-42B9-D46F-59B5-8EF41EDB4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8C846-102F-8D21-1D7E-B349A4D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C0D46-6E00-8B86-AA5B-0AA49D29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BCEF6-CB65-E675-117E-C1837C8B7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77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314E-C1A4-C501-FD62-142E1A2F1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D04E6-196B-CCC6-593A-E188185E3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29BD0-3E57-15FB-FFFD-F18ADDF22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1CDF2-6F09-1192-8959-8DFAD7567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510EF-83D8-3B5B-D87B-EFC9768E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F709B-0354-9642-1667-3FBFE238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156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E57C-69F7-1F25-2E9C-A6CB47BDB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21B58-BD95-4A45-FEDB-09DC4E529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BFC855-12DA-9B64-F0D3-727141341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6AE8B-71E3-98AB-4E88-E3B24FB3C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E3E7E2-ECEE-C343-F56B-3CCCDB832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E6F8F8-4BE8-8E34-4D70-75246A3E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D66D3F-3415-1C84-186F-C52F0C25F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3D3CBA-2B1A-1E6A-76D5-08243EC09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616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DB644-DEE1-8B12-605A-A1929DCF3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347B70-24FE-ADC5-853D-B46C4E876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42AAB-9E81-1CA9-87B8-C50FAD9C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1B612-CDFC-460B-C095-CD009700A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2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355967-9097-746A-5201-CAC2D6BE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7B7073-CC7D-DF49-AD4D-B30D6086A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8D79B-6156-150F-4710-870E12AD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06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27EA-73D5-43A3-9C2F-CE831A31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0DC7-AACA-CC89-1F98-C90DEE95C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064ED-7F16-9508-596A-84E98375B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E5497-1F50-B654-B8BE-9A8A124CE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2BAAC-26CD-7B36-B591-C7DCA1CB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C1AD99-36C2-36F5-758E-0C6F0B2E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739EC-8833-DBBD-3203-B8CEA4192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5D6FCA-50E7-B653-9DFA-E0C4A0446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EFD06-2A7C-1C25-7DAD-0EDFC5E66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78226-5CBA-7082-1BA0-E3B94005A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99CD9D-1154-F96C-0DCF-2D72F5E8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55AC5-9DA2-3859-721C-0FD954629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45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EB10-A5AA-D1BF-FF8F-04DE2930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B72D6-D168-0F0E-7C15-A513A1EE4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1B1C5-B1F3-315A-28DE-59921770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8FF44-D482-FBCC-6D7C-A5605967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3FC32-CD8B-D3AE-F273-E8781644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60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F44A3-7622-2359-3959-8084367E3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8ADB2C-B6E9-3A9A-2942-7C7BB2490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69660-2225-3721-0976-6AFC5F5AA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2324C-9FFF-9ED9-CE19-0B2152EBC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10D2B-EBC7-CE7C-22B1-2CEEABC32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35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76CC29-6413-07E0-0F83-2F54ECF87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F91D0-9C92-7385-25EA-22597435D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BB74F-46D8-03EF-2D51-64C4700BD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8EE3F-C531-4F47-81BE-EB7857D8F03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BC302-2576-AF44-615A-AADF1B540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FD645-FDED-209E-23CB-CDA5522E1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1F63E-44D9-46F9-A101-DE9709C85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4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D8AACB-CA4F-D599-14E0-02AA951B4E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86125" y="129223"/>
            <a:ext cx="5619750" cy="9829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C65C56-0737-6750-E644-CD750C5836DE}"/>
              </a:ext>
            </a:extLst>
          </p:cNvPr>
          <p:cNvSpPr txBox="1"/>
          <p:nvPr/>
        </p:nvSpPr>
        <p:spPr>
          <a:xfrm>
            <a:off x="76200" y="1465798"/>
            <a:ext cx="120396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Project Presentation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“Proactive Equipment Care using Analytics with Cloud - Cloud Integrated Analytics”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ID: G03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 &amp; Enrollment No: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Megh(22162121011)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Prajapati Pratham(22162171023)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 Tirth(22162101016)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The guidance of 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Umesh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Lakhtariya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/Mr. Anoj Dixit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Computer Technology, Ganpat University</a:t>
            </a:r>
          </a:p>
          <a:p>
            <a:pPr algn="ctr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Date:- 06</a:t>
            </a:r>
            <a:r>
              <a:rPr lang="en-US" sz="2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2026</a:t>
            </a:r>
          </a:p>
          <a:p>
            <a:pPr algn="ctr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9043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4CF11-9991-8DF7-ADCE-F176A3D367CA}"/>
              </a:ext>
            </a:extLst>
          </p:cNvPr>
          <p:cNvSpPr txBox="1"/>
          <p:nvPr/>
        </p:nvSpPr>
        <p:spPr>
          <a:xfrm>
            <a:off x="388374" y="108155"/>
            <a:ext cx="11415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Index Of Content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0C54F4-5A2B-14F9-1FB2-644F9C2D3A9C}"/>
              </a:ext>
            </a:extLst>
          </p:cNvPr>
          <p:cNvSpPr txBox="1"/>
          <p:nvPr/>
        </p:nvSpPr>
        <p:spPr>
          <a:xfrm>
            <a:off x="388374" y="1484670"/>
            <a:ext cx="1172496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Project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Training Workflow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70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7590-6701-F00D-6A01-F848739F61F0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8531B-8F38-D3C2-985F-88E10F40E1C1}"/>
              </a:ext>
            </a:extLst>
          </p:cNvPr>
          <p:cNvSpPr txBox="1"/>
          <p:nvPr/>
        </p:nvSpPr>
        <p:spPr>
          <a:xfrm>
            <a:off x="265471" y="792624"/>
            <a:ext cx="116610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Proactive Equipment Care using Analytics with Cloud is a cloud-based intelligent maintenance system designed to predict equipment failures before they occur.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maintenance approaches are reactive, leading to unexpected downtime and high repair costs. This system integrates data analytics, machine learning, and cloud computing to monitor equipment health in real-time.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Motor data is processed and analyzed to detect patterns and anomalies.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ML model predicts potential failures, enabling preventive maintenance.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solution improves operational efficiency, reduces downtime, and enhances equipment lifespan.</a:t>
            </a:r>
          </a:p>
        </p:txBody>
      </p:sp>
    </p:spTree>
    <p:extLst>
      <p:ext uri="{BB962C8B-B14F-4D97-AF65-F5344CB8AC3E}">
        <p14:creationId xmlns:p14="http://schemas.microsoft.com/office/powerpoint/2010/main" val="309287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7590-6701-F00D-6A01-F848739F61F0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Problem Statement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8531B-8F38-D3C2-985F-88E10F40E1C1}"/>
              </a:ext>
            </a:extLst>
          </p:cNvPr>
          <p:cNvSpPr txBox="1"/>
          <p:nvPr/>
        </p:nvSpPr>
        <p:spPr>
          <a:xfrm>
            <a:off x="265471" y="792624"/>
            <a:ext cx="11661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Industries rely heavily on reactive maintenance strategies, where equipment is repaired only after failure occurs. This leads to: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equipment failures lead to production loss, increased downtime, high maintenance costs, and potential safety risks in industrial environments.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reactive maintenance approaches address issues only after failure, resulting in inefficient operations, higher repair costs, and poor maintenance planning.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cloud-based smart system with analytics to enable continuous monitoring, centralized data storage, and data-driven decision-making for optimized maintenance and resource management. 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897FB-4374-03CD-17F5-C0776814129B}"/>
              </a:ext>
            </a:extLst>
          </p:cNvPr>
          <p:cNvSpPr txBox="1"/>
          <p:nvPr/>
        </p:nvSpPr>
        <p:spPr>
          <a:xfrm>
            <a:off x="265471" y="4054189"/>
            <a:ext cx="11661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Solution:- There is a need for an intelligent cloud-based system that can predict equipment failures before they happen.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09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2D124-6C74-A439-EEE3-91DB173C1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B66D7-E44A-359E-D3F9-66A35AFC7EDE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2F9B2-DD33-D195-ECD5-0FE67EDE3B16}"/>
              </a:ext>
            </a:extLst>
          </p:cNvPr>
          <p:cNvSpPr txBox="1"/>
          <p:nvPr/>
        </p:nvSpPr>
        <p:spPr>
          <a:xfrm>
            <a:off x="265471" y="792624"/>
            <a:ext cx="116610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cloud-based predictive maintenance system for continuous remote monitoring, secure data storage, and intelligent analysis of equipment performance.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process key motor data (temperature, vibration, load) and apply machine learning algorithms to accurately assess equipment health and predict potential failures.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real-time dashboard that visualizes equipment status, predictions, and historical trends for effective monitoring and decision-making.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downtime and maintenance costs by enabling proactive maintenance through advanced analytics and early fault detection.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7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BBD08-118B-D808-84A6-480DFA351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8AEFDA-3744-BC67-062F-841E59E528C8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E6B92-D475-4F9C-7689-CFDB58CF5EA8}"/>
              </a:ext>
            </a:extLst>
          </p:cNvPr>
          <p:cNvSpPr txBox="1"/>
          <p:nvPr/>
        </p:nvSpPr>
        <p:spPr>
          <a:xfrm>
            <a:off x="265471" y="792624"/>
            <a:ext cx="1166105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idea will Help in: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continuously monitor equipment condition in real time by tracking parameters such as temperature, vibration, and load for accurate performance assessment.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potential equipment failures using data-driven and machine learning models that identify patterns and early warning signs.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remote monitoring and real-time accessibility through cloud integration, ensuring scalability and efficient handling of large data and multiple devices.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applications in industries like manufacturing, power plants, and heavy machinery, with IoT integration for smart sensors to improve maintenance efficiency and reduce operational risks.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34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EBB8-2C16-F9AF-DC28-A92064C0B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35DC7D-8465-FFE9-C68C-B7E2740F495F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Workflow Of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A66CB-0C4B-8248-C53C-B30B5F3FE7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1" y="801145"/>
            <a:ext cx="9326880" cy="576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875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1CC0B-9258-E5EB-A4FE-030703478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16B366-2F18-28D7-251A-3DFE8671EF7B}"/>
              </a:ext>
            </a:extLst>
          </p:cNvPr>
          <p:cNvSpPr txBox="1"/>
          <p:nvPr/>
        </p:nvSpPr>
        <p:spPr>
          <a:xfrm>
            <a:off x="265471" y="226142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Training Workflow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B6A86F-FFA2-F668-D8F8-EBCB383DD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42" y="1071716"/>
            <a:ext cx="10618839" cy="51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73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CE408-454F-0B20-DB97-ABA11623D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E2732-D274-0068-88B3-6643BA113CD9}"/>
              </a:ext>
            </a:extLst>
          </p:cNvPr>
          <p:cNvSpPr txBox="1"/>
          <p:nvPr/>
        </p:nvSpPr>
        <p:spPr>
          <a:xfrm>
            <a:off x="265471" y="127819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System Architecture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2600D-2D0E-930A-0E24-ADF6F0FC34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716" y="540774"/>
            <a:ext cx="8701550" cy="63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85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3F5B6-0A81-ED91-3840-230D805A7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6E4168-7AB3-32F7-B0A5-8167AA6C64EA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Description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4D0BD-B23E-C3EE-D4E1-251A8B5A6A05}"/>
              </a:ext>
            </a:extLst>
          </p:cNvPr>
          <p:cNvSpPr txBox="1"/>
          <p:nvPr/>
        </p:nvSpPr>
        <p:spPr>
          <a:xfrm>
            <a:off x="265471" y="792624"/>
            <a:ext cx="1166105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Generation Module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and manages motor sensor data such as temperature, vibration, current, and load, either from cloud storage or simulated CSV datasets.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Module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Cleans, normalizes, and prepares raw sensor data through preprocessing and feature engineering for accurate model training.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Module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trained LSTM machine learning model to analyze time-series data and predict equipment failure probability.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Module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real-time equipment status, prediction results, and historical trends through an interactive web-based interface.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secure user login, role-based access control, and logging of user activities using cloud-based authentication services.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F67CC-7C19-6A36-7176-4C4C1F4BE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AD634-2ED5-3409-7386-2FD94882C714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Confusion Matrix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916759-E6BF-D798-6748-3054CF59F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248028"/>
              </p:ext>
            </p:extLst>
          </p:nvPr>
        </p:nvGraphicFramePr>
        <p:xfrm>
          <a:off x="2032000" y="71966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80275748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35549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534436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236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Actual 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2248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1499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28152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ea typeface="Tahoma" panose="020B0604030504040204" pitchFamily="34" charset="0"/>
                          <a:cs typeface="Times New Roman" panose="02020603050405020304" pitchFamily="18" charset="0"/>
                        </a:rPr>
                        <a:t>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663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1B48C33-5F6E-30D9-9ACC-60E902F03CD8}"/>
              </a:ext>
            </a:extLst>
          </p:cNvPr>
          <p:cNvSpPr txBox="1"/>
          <p:nvPr/>
        </p:nvSpPr>
        <p:spPr>
          <a:xfrm>
            <a:off x="265471" y="2355207"/>
            <a:ext cx="110612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gives us: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59.9% (overall correct predictions)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Sensitivity: 59.9% (we catch ~60% of actual failures)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Specificity: 60% (we correctly identify ~60% of safe motors)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9.0% (when we predict 'fail', correct only 9% of time)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NPV: 95.8% (when we predict 'safe', correct 95.8% of time)</a:t>
            </a:r>
          </a:p>
        </p:txBody>
      </p:sp>
    </p:spTree>
    <p:extLst>
      <p:ext uri="{BB962C8B-B14F-4D97-AF65-F5344CB8AC3E}">
        <p14:creationId xmlns:p14="http://schemas.microsoft.com/office/powerpoint/2010/main" val="324913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F9CA-5514-810C-9EF3-2C443E56C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92605-F47C-F551-8C5B-54AD1C5D71FF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Advantages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B9DEDD-EB2E-CCF1-948E-CB7AA078FCFF}"/>
              </a:ext>
            </a:extLst>
          </p:cNvPr>
          <p:cNvSpPr txBox="1"/>
          <p:nvPr/>
        </p:nvSpPr>
        <p:spPr>
          <a:xfrm>
            <a:off x="265471" y="792624"/>
            <a:ext cx="116610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unexpected breakdowns and maintenance costs by predicting failures in advance and shifting from reactive to planned, condition-based maintenance.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equipment lifespan and operational efficiency through continuous monitoring and early detection of performance degradation.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monitoring of equipment health parameters, enabling faster decision-making and better operational control.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cloud scalability and secure data storage with controlled access, allowing efficient handling of large data volumes and protection of sensitive information.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258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3BBA8-B8D0-5172-4DAB-38AE30A4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2427E-4EC1-15BA-8FE3-864B77F1F6D4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Limitations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5C7FC-FABD-3E47-2198-3CAB2FE629EC}"/>
              </a:ext>
            </a:extLst>
          </p:cNvPr>
          <p:cNvSpPr txBox="1"/>
          <p:nvPr/>
        </p:nvSpPr>
        <p:spPr>
          <a:xfrm>
            <a:off x="265471" y="792624"/>
            <a:ext cx="1166105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high-quality and sufficient historical data to train machine learning models effectively, as poor or imbalanced data can reduce prediction accuracy.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high initial setup costs due to cloud infrastructure configuration, system development, and model training.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stable internet connectivity for continuous cloud access, real-time monitoring, and data synchronization.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periodic model retraining to adapt to changing equipment behavior, new failure patterns, and updated operational conditions.</a:t>
            </a:r>
          </a:p>
        </p:txBody>
      </p:sp>
    </p:spTree>
    <p:extLst>
      <p:ext uri="{BB962C8B-B14F-4D97-AF65-F5344CB8AC3E}">
        <p14:creationId xmlns:p14="http://schemas.microsoft.com/office/powerpoint/2010/main" val="228288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6D6C7-B3A5-11E1-4236-039746ED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B59113-A7F0-50AA-9CEE-BF22A6A13FAE}"/>
              </a:ext>
            </a:extLst>
          </p:cNvPr>
          <p:cNvSpPr txBox="1"/>
          <p:nvPr/>
        </p:nvSpPr>
        <p:spPr>
          <a:xfrm>
            <a:off x="265471" y="196645"/>
            <a:ext cx="11661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5D2C3-CF35-4491-5653-CA91001EC5D2}"/>
              </a:ext>
            </a:extLst>
          </p:cNvPr>
          <p:cNvSpPr txBox="1"/>
          <p:nvPr/>
        </p:nvSpPr>
        <p:spPr>
          <a:xfrm>
            <a:off x="265471" y="792624"/>
            <a:ext cx="116610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Proactive Equipment Care system provides a scalable predictive maintenance solution by integrating cloud computing, data analytics, and deep learning to continuously monitor and analyze equipment data.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an LSTM-based model improves prediction accuracy and enables early failure detection, allowing industries to receive alerts 24–48 hours in advance for proactive maintenance.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transforms traditional reactive maintenance into a data-driven approach, reducing downtime and costs while improving equipment reliability, productivity, and overall operational efficiency.</a:t>
            </a:r>
          </a:p>
        </p:txBody>
      </p:sp>
    </p:spTree>
    <p:extLst>
      <p:ext uri="{BB962C8B-B14F-4D97-AF65-F5344CB8AC3E}">
        <p14:creationId xmlns:p14="http://schemas.microsoft.com/office/powerpoint/2010/main" val="1492433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E80605-1075-6E4B-05C2-4D6055C503A9}"/>
              </a:ext>
            </a:extLst>
          </p:cNvPr>
          <p:cNvSpPr txBox="1"/>
          <p:nvPr/>
        </p:nvSpPr>
        <p:spPr>
          <a:xfrm>
            <a:off x="4424516" y="2921168"/>
            <a:ext cx="35624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7367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967</Words>
  <Application>Microsoft Office PowerPoint</Application>
  <PresentationFormat>Widescreen</PresentationFormat>
  <Paragraphs>128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Pratham Prajapati</dc:creator>
  <cp:lastModifiedBy>Pratham Prajapati</cp:lastModifiedBy>
  <cp:revision>17</cp:revision>
  <dcterms:created xsi:type="dcterms:W3CDTF">2026-02-15T12:42:27Z</dcterms:created>
  <dcterms:modified xsi:type="dcterms:W3CDTF">2026-04-30T06:50:56Z</dcterms:modified>
</cp:coreProperties>
</file>