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63" r:id="rId2"/>
    <p:sldId id="257" r:id="rId3"/>
    <p:sldId id="258" r:id="rId4"/>
    <p:sldId id="265" r:id="rId5"/>
    <p:sldId id="266" r:id="rId6"/>
    <p:sldId id="267" r:id="rId7"/>
    <p:sldId id="268" r:id="rId8"/>
    <p:sldId id="269" r:id="rId9"/>
    <p:sldId id="271" r:id="rId10"/>
    <p:sldId id="272" r:id="rId11"/>
    <p:sldId id="276" r:id="rId12"/>
    <p:sldId id="275" r:id="rId13"/>
    <p:sldId id="273" r:id="rId14"/>
    <p:sldId id="274"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2/15/2026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7509-3C30-DEC6-5B50-FAA218DB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D2C9E5-8469-5859-34B0-AE19ADEC2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38D90-E948-6E29-68D7-01333E7DC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ABC21D-EE7C-BD2F-609F-623C8351C4F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4051647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25A2C-0FA8-EBBC-17B7-D666A281F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3F317-D703-84E6-A80E-7B48639156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FAD2C-26F8-77EA-FE4D-350BEAB728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77D52-6C1C-6B08-C411-B224E81EF0CB}"/>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4259835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14</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2/15/2026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2/15/2026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D8AACB-CA4F-D599-14E0-02AA951B4E80}"/>
              </a:ext>
            </a:extLst>
          </p:cNvPr>
          <p:cNvPicPr/>
          <p:nvPr/>
        </p:nvPicPr>
        <p:blipFill>
          <a:blip r:embed="rId2"/>
          <a:stretch>
            <a:fillRect/>
          </a:stretch>
        </p:blipFill>
        <p:spPr>
          <a:xfrm>
            <a:off x="3286125" y="129223"/>
            <a:ext cx="5619750" cy="982980"/>
          </a:xfrm>
          <a:prstGeom prst="rect">
            <a:avLst/>
          </a:prstGeom>
        </p:spPr>
      </p:pic>
      <p:sp>
        <p:nvSpPr>
          <p:cNvPr id="4" name="TextBox 3">
            <a:extLst>
              <a:ext uri="{FF2B5EF4-FFF2-40B4-BE49-F238E27FC236}">
                <a16:creationId xmlns:a16="http://schemas.microsoft.com/office/drawing/2014/main" id="{A6C65C56-0737-6750-E644-CD750C5836DE}"/>
              </a:ext>
            </a:extLst>
          </p:cNvPr>
          <p:cNvSpPr txBox="1"/>
          <p:nvPr/>
        </p:nvSpPr>
        <p:spPr>
          <a:xfrm>
            <a:off x="76200" y="1465798"/>
            <a:ext cx="12039600"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Date:- 21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February 2026</a:t>
            </a:r>
          </a:p>
          <a:p>
            <a:pPr algn="ctr"/>
            <a:endParaRPr lang="en-US" sz="2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262979"/>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5016758"/>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location.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Enables real-time monitoring from anywhere, improving accessibility and faster decision-making for maintenance teams.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96645"/>
            <a:ext cx="11661058" cy="523220"/>
          </a:xfrm>
          <a:prstGeom prst="rect">
            <a:avLst/>
          </a:prstGeom>
          <a:noFill/>
        </p:spPr>
        <p:txBody>
          <a:bodyPr wrap="square" rtlCol="0">
            <a:spAutoFit/>
          </a:bodyPr>
          <a:lstStyle/>
          <a:p>
            <a:r>
              <a:rPr lang="en-US" sz="2800" b="1" dirty="0"/>
              <a:t>System Architecture </a:t>
            </a:r>
          </a:p>
        </p:txBody>
      </p:sp>
      <p:pic>
        <p:nvPicPr>
          <p:cNvPr id="6" name="Picture 5">
            <a:extLst>
              <a:ext uri="{FF2B5EF4-FFF2-40B4-BE49-F238E27FC236}">
                <a16:creationId xmlns:a16="http://schemas.microsoft.com/office/drawing/2014/main" id="{348B53B9-34E4-B83D-1F26-744EDE5B6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0" y="1041470"/>
            <a:ext cx="12103509" cy="5693627"/>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4" name="Picture 3">
            <a:extLst>
              <a:ext uri="{FF2B5EF4-FFF2-40B4-BE49-F238E27FC236}">
                <a16:creationId xmlns:a16="http://schemas.microsoft.com/office/drawing/2014/main" id="{090E7055-FCA7-5ABF-866C-142FB6354318}"/>
              </a:ext>
            </a:extLst>
          </p:cNvPr>
          <p:cNvPicPr>
            <a:picLocks noChangeAspect="1"/>
          </p:cNvPicPr>
          <p:nvPr/>
        </p:nvPicPr>
        <p:blipFill>
          <a:blip r:embed="rId3">
            <a:extLst>
              <a:ext uri="{28A0092B-C50C-407E-A947-70E740481C1C}">
                <a14:useLocalDpi xmlns:a14="http://schemas.microsoft.com/office/drawing/2010/main" val="0"/>
              </a:ext>
            </a:extLst>
          </a:blip>
          <a:srcRect l="11586" t="3324" r="-108" b="29625"/>
          <a:stretch>
            <a:fillRect/>
          </a:stretch>
        </p:blipFill>
        <p:spPr>
          <a:xfrm>
            <a:off x="875071" y="1120878"/>
            <a:ext cx="10441858" cy="3726426"/>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EB1FF-0DEE-8E69-16D6-27C30FC7E2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D3DFF1-6C8E-4E00-38A6-15526C8A1849}"/>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2A5B6ED7-B1C6-1D1F-0557-5F2E56CBFCB9}"/>
              </a:ext>
            </a:extLst>
          </p:cNvPr>
          <p:cNvSpPr txBox="1"/>
          <p:nvPr/>
        </p:nvSpPr>
        <p:spPr>
          <a:xfrm>
            <a:off x="265471" y="792624"/>
            <a:ext cx="11661058" cy="563231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Programming Language</a:t>
            </a:r>
          </a:p>
          <a:p>
            <a:pPr marL="342900" indent="-342900">
              <a:buFont typeface="Wingdings" panose="05000000000000000000" pitchFamily="2" charset="2"/>
              <a:buChar char="ü"/>
            </a:pPr>
            <a:r>
              <a:rPr lang="en-US" sz="2000" dirty="0"/>
              <a:t>Python 3.9+</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Backend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 (Web Framework)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Flask-CORS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dotenv</a:t>
            </a:r>
            <a:r>
              <a:rPr lang="en-US" sz="2000" dirty="0">
                <a:latin typeface="Times New Roman" panose="02020603050405020304" pitchFamily="18" charset="0"/>
                <a:cs typeface="Times New Roman" panose="02020603050405020304" pitchFamily="18" charset="0"/>
              </a:rPr>
              <a:t> (Environment variable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Machine Learning &amp; Deep Learning</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TensorFlow</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KerasLSTM</a:t>
            </a:r>
            <a:r>
              <a:rPr lang="en-US" sz="2000" dirty="0">
                <a:latin typeface="Times New Roman" panose="02020603050405020304" pitchFamily="18" charset="0"/>
                <a:cs typeface="Times New Roman" panose="02020603050405020304" pitchFamily="18" charset="0"/>
              </a:rPr>
              <a:t> (Long Short-Term Memory Neural Network)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Scikit-learn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SMOTE (for class imbalance handling)</a:t>
            </a:r>
          </a:p>
          <a:p>
            <a:pPr marL="342900" indent="-342900">
              <a:buFont typeface="Wingdings" panose="05000000000000000000" pitchFamily="2" charset="2"/>
              <a:buChar char="Ø"/>
            </a:pPr>
            <a:endParaRPr lang="en-US" sz="2000" b="1"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Data Processing &amp; Analysis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Pandas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NumPy</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Jupyter</a:t>
            </a:r>
            <a:r>
              <a:rPr lang="en-US" sz="2000" dirty="0">
                <a:latin typeface="Times New Roman" panose="02020603050405020304" pitchFamily="18" charset="0"/>
                <a:cs typeface="Times New Roman" panose="02020603050405020304" pitchFamily="18" charset="0"/>
              </a:rPr>
              <a:t> Notebook</a:t>
            </a:r>
          </a:p>
        </p:txBody>
      </p:sp>
    </p:spTree>
    <p:extLst>
      <p:ext uri="{BB962C8B-B14F-4D97-AF65-F5344CB8AC3E}">
        <p14:creationId xmlns:p14="http://schemas.microsoft.com/office/powerpoint/2010/main" val="22329113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DE268-9F6D-A81F-5378-7FA45AA68F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3F026-F5DB-DDE2-43F2-F834CBE92A42}"/>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565F52EF-E9A8-F732-260A-5D982A1CF5E3}"/>
              </a:ext>
            </a:extLst>
          </p:cNvPr>
          <p:cNvSpPr txBox="1"/>
          <p:nvPr/>
        </p:nvSpPr>
        <p:spPr>
          <a:xfrm>
            <a:off x="265470" y="2563818"/>
            <a:ext cx="11661058" cy="470898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Frontend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HTML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CSS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Javascript</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Visualization</a:t>
            </a:r>
          </a:p>
          <a:p>
            <a:pPr marL="342900" indent="-342900">
              <a:buFont typeface="Wingdings" panose="05000000000000000000" pitchFamily="2" charset="2"/>
              <a:buChar char="ü"/>
            </a:pPr>
            <a:r>
              <a:rPr lang="en-US" sz="2000" dirty="0"/>
              <a:t>Tableau Public</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Version Control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Git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Development Tools</a:t>
            </a:r>
            <a:endParaRPr lang="en-US" sz="2000" b="1" dirty="0"/>
          </a:p>
          <a:p>
            <a:pPr marL="342900" indent="-342900">
              <a:buFont typeface="Wingdings" panose="05000000000000000000" pitchFamily="2" charset="2"/>
              <a:buChar char="ü"/>
            </a:pPr>
            <a:r>
              <a:rPr lang="en-US" sz="2000" dirty="0"/>
              <a:t>VS Code</a:t>
            </a:r>
          </a:p>
          <a:p>
            <a:pPr marL="342900" indent="-342900">
              <a:buFont typeface="Wingdings" panose="05000000000000000000" pitchFamily="2" charset="2"/>
              <a:buChar char="ü"/>
            </a:pPr>
            <a:r>
              <a:rPr lang="en-US" sz="2000" dirty="0" err="1"/>
              <a:t>Jupyter</a:t>
            </a:r>
            <a:r>
              <a:rPr lang="en-US" sz="2000" dirty="0"/>
              <a:t> Notebook</a:t>
            </a:r>
          </a:p>
          <a:p>
            <a:pPr marL="342900" indent="-342900">
              <a:buFont typeface="Wingdings" panose="05000000000000000000" pitchFamily="2" charset="2"/>
              <a:buChar char="Ø"/>
            </a:pPr>
            <a:endParaRPr lang="en-US" sz="2000" dirty="0"/>
          </a:p>
        </p:txBody>
      </p:sp>
      <p:sp>
        <p:nvSpPr>
          <p:cNvPr id="4" name="TextBox 3">
            <a:extLst>
              <a:ext uri="{FF2B5EF4-FFF2-40B4-BE49-F238E27FC236}">
                <a16:creationId xmlns:a16="http://schemas.microsoft.com/office/drawing/2014/main" id="{0375B4EA-9D8E-1A99-132E-87A8629B9F85}"/>
              </a:ext>
            </a:extLst>
          </p:cNvPr>
          <p:cNvSpPr txBox="1"/>
          <p:nvPr/>
        </p:nvSpPr>
        <p:spPr>
          <a:xfrm>
            <a:off x="265470" y="815048"/>
            <a:ext cx="11661058" cy="707886"/>
          </a:xfrm>
          <a:prstGeom prst="rect">
            <a:avLst/>
          </a:prstGeom>
          <a:noFill/>
        </p:spPr>
        <p:txBody>
          <a:bodyPr wrap="square" rtlCol="0">
            <a:spAutoFit/>
          </a:bodyPr>
          <a:lstStyle/>
          <a:p>
            <a:pPr marL="285750" indent="-28575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Cloud &amp; Database</a:t>
            </a:r>
          </a:p>
          <a:p>
            <a:pPr marL="342900" indent="-342900">
              <a:buFont typeface="Wingdings" panose="05000000000000000000" pitchFamily="2" charset="2"/>
              <a:buChar char="ü"/>
            </a:pPr>
            <a:r>
              <a:rPr lang="en-US" sz="2000" dirty="0" err="1"/>
              <a:t>Supabase</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276B693-3FB5-31F7-B40B-15F91AF78375}"/>
              </a:ext>
            </a:extLst>
          </p:cNvPr>
          <p:cNvSpPr txBox="1"/>
          <p:nvPr/>
        </p:nvSpPr>
        <p:spPr>
          <a:xfrm>
            <a:off x="648929" y="1522934"/>
            <a:ext cx="11277599" cy="923330"/>
          </a:xfrm>
          <a:prstGeom prst="rect">
            <a:avLst/>
          </a:prstGeom>
          <a:noFill/>
        </p:spPr>
        <p:txBody>
          <a:bodyPr wrap="square" rtlCol="0">
            <a:spAutoFit/>
          </a:bodyPr>
          <a:lstStyle/>
          <a:p>
            <a:pPr marL="285750" indent="-285750">
              <a:buFont typeface="Arial" panose="020B0604020202020204" pitchFamily="34" charset="0"/>
              <a:buChar char="•"/>
            </a:pPr>
            <a:r>
              <a:rPr lang="en-US" dirty="0" err="1"/>
              <a:t>Supabase</a:t>
            </a:r>
            <a:r>
              <a:rPr lang="en-US" dirty="0"/>
              <a:t> PostgreSQL (Database)</a:t>
            </a:r>
          </a:p>
          <a:p>
            <a:pPr marL="285750" indent="-285750">
              <a:buFont typeface="Arial" panose="020B0604020202020204" pitchFamily="34" charset="0"/>
              <a:buChar char="•"/>
            </a:pPr>
            <a:r>
              <a:rPr lang="en-US" dirty="0" err="1"/>
              <a:t>Supabase</a:t>
            </a:r>
            <a:r>
              <a:rPr lang="en-US" dirty="0"/>
              <a:t> Storage (Cloud Storage)</a:t>
            </a:r>
          </a:p>
          <a:p>
            <a:pPr marL="285750" indent="-285750">
              <a:buFont typeface="Arial" panose="020B0604020202020204" pitchFamily="34" charset="0"/>
              <a:buChar char="•"/>
            </a:pPr>
            <a:r>
              <a:rPr lang="en-US" dirty="0" err="1"/>
              <a:t>Supabase</a:t>
            </a:r>
            <a:r>
              <a:rPr lang="en-US" dirty="0"/>
              <a:t> Auth (Authentication)</a:t>
            </a:r>
          </a:p>
        </p:txBody>
      </p:sp>
    </p:spTree>
    <p:extLst>
      <p:ext uri="{BB962C8B-B14F-4D97-AF65-F5344CB8AC3E}">
        <p14:creationId xmlns:p14="http://schemas.microsoft.com/office/powerpoint/2010/main" val="3005237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TotalTime>
  <Words>1161</Words>
  <Application>Microsoft Office PowerPoint</Application>
  <PresentationFormat>Widescreen</PresentationFormat>
  <Paragraphs>142</Paragraphs>
  <Slides>15</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6</cp:revision>
  <dcterms:created xsi:type="dcterms:W3CDTF">2026-02-15T12:42:27Z</dcterms:created>
  <dcterms:modified xsi:type="dcterms:W3CDTF">2026-02-15T14:26:52Z</dcterms:modified>
</cp:coreProperties>
</file>