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63" r:id="rId2"/>
    <p:sldId id="257" r:id="rId3"/>
    <p:sldId id="258" r:id="rId4"/>
    <p:sldId id="265" r:id="rId5"/>
    <p:sldId id="266" r:id="rId6"/>
    <p:sldId id="267" r:id="rId7"/>
    <p:sldId id="268" r:id="rId8"/>
    <p:sldId id="269" r:id="rId9"/>
    <p:sldId id="271" r:id="rId10"/>
    <p:sldId id="272" r:id="rId11"/>
    <p:sldId id="276" r:id="rId12"/>
    <p:sldId id="275" r:id="rId13"/>
    <p:sldId id="273" r:id="rId14"/>
    <p:sldId id="274" r:id="rId15"/>
    <p:sldId id="277" r:id="rId16"/>
    <p:sldId id="26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BED7E8-5420-4F73-BA32-34A7030FE7D8}" type="datetimeFigureOut">
              <a:rPr lang="en-US" smtClean="0"/>
              <a:t>2/20/2026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795739-CA6B-4BAB-AD11-B86E0C9116EA}" type="slidenum">
              <a:rPr lang="en-US" smtClean="0"/>
              <a:t>‹#›</a:t>
            </a:fld>
            <a:endParaRPr lang="en-US"/>
          </a:p>
        </p:txBody>
      </p:sp>
    </p:spTree>
    <p:extLst>
      <p:ext uri="{BB962C8B-B14F-4D97-AF65-F5344CB8AC3E}">
        <p14:creationId xmlns:p14="http://schemas.microsoft.com/office/powerpoint/2010/main" val="1675039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19E7F2-498D-45ED-A645-8BBCF90873D0}" type="slidenum">
              <a:rPr lang="en-US" smtClean="0"/>
              <a:t>3</a:t>
            </a:fld>
            <a:endParaRPr lang="en-US"/>
          </a:p>
        </p:txBody>
      </p:sp>
    </p:spTree>
    <p:extLst>
      <p:ext uri="{BB962C8B-B14F-4D97-AF65-F5344CB8AC3E}">
        <p14:creationId xmlns:p14="http://schemas.microsoft.com/office/powerpoint/2010/main" val="855062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19E7F2-498D-45ED-A645-8BBCF90873D0}" type="slidenum">
              <a:rPr lang="en-US" smtClean="0"/>
              <a:t>4</a:t>
            </a:fld>
            <a:endParaRPr lang="en-US"/>
          </a:p>
        </p:txBody>
      </p:sp>
    </p:spTree>
    <p:extLst>
      <p:ext uri="{BB962C8B-B14F-4D97-AF65-F5344CB8AC3E}">
        <p14:creationId xmlns:p14="http://schemas.microsoft.com/office/powerpoint/2010/main" val="855062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02450-8B39-F9CA-E016-C63037C763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3FE313-8E88-5B11-958B-E3781291F0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3461F2-1A74-5FDD-6A89-637D63809E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335333-5B22-AF69-0FF7-0BA3A4DEE629}"/>
              </a:ext>
            </a:extLst>
          </p:cNvPr>
          <p:cNvSpPr>
            <a:spLocks noGrp="1"/>
          </p:cNvSpPr>
          <p:nvPr>
            <p:ph type="sldNum" sz="quarter" idx="5"/>
          </p:nvPr>
        </p:nvSpPr>
        <p:spPr/>
        <p:txBody>
          <a:bodyPr/>
          <a:lstStyle/>
          <a:p>
            <a:fld id="{C119E7F2-498D-45ED-A645-8BBCF90873D0}" type="slidenum">
              <a:rPr lang="en-US" smtClean="0"/>
              <a:t>5</a:t>
            </a:fld>
            <a:endParaRPr lang="en-US"/>
          </a:p>
        </p:txBody>
      </p:sp>
    </p:spTree>
    <p:extLst>
      <p:ext uri="{BB962C8B-B14F-4D97-AF65-F5344CB8AC3E}">
        <p14:creationId xmlns:p14="http://schemas.microsoft.com/office/powerpoint/2010/main" val="36341400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0ABF4-46F1-C9F1-252B-96D978B887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37ED3B-9C64-DE0E-1D3B-33B0484804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18D629-91BD-8FD4-A04A-812F6AB09D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7DEEEF-8AB6-54C7-1B2D-CF1CA1BFC648}"/>
              </a:ext>
            </a:extLst>
          </p:cNvPr>
          <p:cNvSpPr>
            <a:spLocks noGrp="1"/>
          </p:cNvSpPr>
          <p:nvPr>
            <p:ph type="sldNum" sz="quarter" idx="5"/>
          </p:nvPr>
        </p:nvSpPr>
        <p:spPr/>
        <p:txBody>
          <a:bodyPr/>
          <a:lstStyle/>
          <a:p>
            <a:fld id="{C119E7F2-498D-45ED-A645-8BBCF90873D0}" type="slidenum">
              <a:rPr lang="en-US" smtClean="0"/>
              <a:t>6</a:t>
            </a:fld>
            <a:endParaRPr lang="en-US"/>
          </a:p>
        </p:txBody>
      </p:sp>
    </p:spTree>
    <p:extLst>
      <p:ext uri="{BB962C8B-B14F-4D97-AF65-F5344CB8AC3E}">
        <p14:creationId xmlns:p14="http://schemas.microsoft.com/office/powerpoint/2010/main" val="1377022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70177-3241-9787-8FE5-3D1C2A89A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888FAA-6752-76D2-42E8-86B0DFEA3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B3514B-0B70-4F72-4C68-263FBD4C00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A838BE-C6D7-DA61-D913-0B10FBE481C8}"/>
              </a:ext>
            </a:extLst>
          </p:cNvPr>
          <p:cNvSpPr>
            <a:spLocks noGrp="1"/>
          </p:cNvSpPr>
          <p:nvPr>
            <p:ph type="sldNum" sz="quarter" idx="5"/>
          </p:nvPr>
        </p:nvSpPr>
        <p:spPr/>
        <p:txBody>
          <a:bodyPr/>
          <a:lstStyle/>
          <a:p>
            <a:fld id="{C119E7F2-498D-45ED-A645-8BBCF90873D0}" type="slidenum">
              <a:rPr lang="en-US" smtClean="0"/>
              <a:t>7</a:t>
            </a:fld>
            <a:endParaRPr lang="en-US"/>
          </a:p>
        </p:txBody>
      </p:sp>
    </p:spTree>
    <p:extLst>
      <p:ext uri="{BB962C8B-B14F-4D97-AF65-F5344CB8AC3E}">
        <p14:creationId xmlns:p14="http://schemas.microsoft.com/office/powerpoint/2010/main" val="13033811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ADCC8-95E4-F662-D473-8EF8626B86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B561AF-B228-4531-28D2-B9787D6113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315E2E-BA06-1825-27C9-99FEB23832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F09298-EA17-E481-F871-555031D85AE8}"/>
              </a:ext>
            </a:extLst>
          </p:cNvPr>
          <p:cNvSpPr>
            <a:spLocks noGrp="1"/>
          </p:cNvSpPr>
          <p:nvPr>
            <p:ph type="sldNum" sz="quarter" idx="5"/>
          </p:nvPr>
        </p:nvSpPr>
        <p:spPr/>
        <p:txBody>
          <a:bodyPr/>
          <a:lstStyle/>
          <a:p>
            <a:fld id="{C119E7F2-498D-45ED-A645-8BBCF90873D0}" type="slidenum">
              <a:rPr lang="en-US" smtClean="0"/>
              <a:t>8</a:t>
            </a:fld>
            <a:endParaRPr lang="en-US"/>
          </a:p>
        </p:txBody>
      </p:sp>
    </p:spTree>
    <p:extLst>
      <p:ext uri="{BB962C8B-B14F-4D97-AF65-F5344CB8AC3E}">
        <p14:creationId xmlns:p14="http://schemas.microsoft.com/office/powerpoint/2010/main" val="2293850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47509-3C30-DEC6-5B50-FAA218DB69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D2C9E5-8469-5859-34B0-AE19ADEC2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838D90-E948-6E29-68D7-01333E7DC9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ABC21D-EE7C-BD2F-609F-623C8351C4F8}"/>
              </a:ext>
            </a:extLst>
          </p:cNvPr>
          <p:cNvSpPr>
            <a:spLocks noGrp="1"/>
          </p:cNvSpPr>
          <p:nvPr>
            <p:ph type="sldNum" sz="quarter" idx="5"/>
          </p:nvPr>
        </p:nvSpPr>
        <p:spPr/>
        <p:txBody>
          <a:bodyPr/>
          <a:lstStyle/>
          <a:p>
            <a:fld id="{C119E7F2-498D-45ED-A645-8BBCF90873D0}" type="slidenum">
              <a:rPr lang="en-US" smtClean="0"/>
              <a:t>9</a:t>
            </a:fld>
            <a:endParaRPr lang="en-US"/>
          </a:p>
        </p:txBody>
      </p:sp>
    </p:spTree>
    <p:extLst>
      <p:ext uri="{BB962C8B-B14F-4D97-AF65-F5344CB8AC3E}">
        <p14:creationId xmlns:p14="http://schemas.microsoft.com/office/powerpoint/2010/main" val="40516473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25A2C-0FA8-EBBC-17B7-D666A281F5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53F317-D703-84E6-A80E-7B48639156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7FAD2C-26F8-77EA-FE4D-350BEAB728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D77D52-6C1C-6B08-C411-B224E81EF0CB}"/>
              </a:ext>
            </a:extLst>
          </p:cNvPr>
          <p:cNvSpPr>
            <a:spLocks noGrp="1"/>
          </p:cNvSpPr>
          <p:nvPr>
            <p:ph type="sldNum" sz="quarter" idx="5"/>
          </p:nvPr>
        </p:nvSpPr>
        <p:spPr/>
        <p:txBody>
          <a:bodyPr/>
          <a:lstStyle/>
          <a:p>
            <a:fld id="{C119E7F2-498D-45ED-A645-8BBCF90873D0}" type="slidenum">
              <a:rPr lang="en-US" smtClean="0"/>
              <a:t>10</a:t>
            </a:fld>
            <a:endParaRPr lang="en-US"/>
          </a:p>
        </p:txBody>
      </p:sp>
    </p:spTree>
    <p:extLst>
      <p:ext uri="{BB962C8B-B14F-4D97-AF65-F5344CB8AC3E}">
        <p14:creationId xmlns:p14="http://schemas.microsoft.com/office/powerpoint/2010/main" val="42598357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08448-B8B0-D313-353E-616DAB301D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1BF45A-57FC-E02F-0E13-98B270F2E7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D0D77E-5AFF-628E-BA6B-5F8BFAABF2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C16C0D-5708-C253-C2C7-3B59122C5DAD}"/>
              </a:ext>
            </a:extLst>
          </p:cNvPr>
          <p:cNvSpPr>
            <a:spLocks noGrp="1"/>
          </p:cNvSpPr>
          <p:nvPr>
            <p:ph type="sldNum" sz="quarter" idx="5"/>
          </p:nvPr>
        </p:nvSpPr>
        <p:spPr/>
        <p:txBody>
          <a:bodyPr/>
          <a:lstStyle/>
          <a:p>
            <a:fld id="{C119E7F2-498D-45ED-A645-8BBCF90873D0}" type="slidenum">
              <a:rPr lang="en-US" smtClean="0"/>
              <a:t>11</a:t>
            </a:fld>
            <a:endParaRPr lang="en-US"/>
          </a:p>
        </p:txBody>
      </p:sp>
    </p:spTree>
    <p:extLst>
      <p:ext uri="{BB962C8B-B14F-4D97-AF65-F5344CB8AC3E}">
        <p14:creationId xmlns:p14="http://schemas.microsoft.com/office/powerpoint/2010/main" val="23433158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DF7F0-CC61-0DD1-055A-F106F796F2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58D146-8DAE-35FF-57CD-485C703338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2C9F5A-2EBC-AF4C-8320-5FFC89BA34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7B2B5C-B1F1-431B-640B-7BDB9E1A2D3E}"/>
              </a:ext>
            </a:extLst>
          </p:cNvPr>
          <p:cNvSpPr>
            <a:spLocks noGrp="1"/>
          </p:cNvSpPr>
          <p:nvPr>
            <p:ph type="sldNum" sz="quarter" idx="5"/>
          </p:nvPr>
        </p:nvSpPr>
        <p:spPr/>
        <p:txBody>
          <a:bodyPr/>
          <a:lstStyle/>
          <a:p>
            <a:fld id="{C119E7F2-498D-45ED-A645-8BBCF90873D0}" type="slidenum">
              <a:rPr lang="en-US" smtClean="0"/>
              <a:t>12</a:t>
            </a:fld>
            <a:endParaRPr lang="en-US"/>
          </a:p>
        </p:txBody>
      </p:sp>
    </p:spTree>
    <p:extLst>
      <p:ext uri="{BB962C8B-B14F-4D97-AF65-F5344CB8AC3E}">
        <p14:creationId xmlns:p14="http://schemas.microsoft.com/office/powerpoint/2010/main" val="33947326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29C80-4B9D-BEE6-6F02-16BB3B296F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D4E5FF-AE4F-40ED-4CAF-545950D886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B433B1-8E56-3BA3-3A4D-10DE2621DB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C6A3AD-5EF2-3443-DE66-5A36B789700D}"/>
              </a:ext>
            </a:extLst>
          </p:cNvPr>
          <p:cNvSpPr>
            <a:spLocks noGrp="1"/>
          </p:cNvSpPr>
          <p:nvPr>
            <p:ph type="sldNum" sz="quarter" idx="5"/>
          </p:nvPr>
        </p:nvSpPr>
        <p:spPr/>
        <p:txBody>
          <a:bodyPr/>
          <a:lstStyle/>
          <a:p>
            <a:fld id="{C119E7F2-498D-45ED-A645-8BBCF90873D0}" type="slidenum">
              <a:rPr lang="en-US" smtClean="0"/>
              <a:t>13</a:t>
            </a:fld>
            <a:endParaRPr lang="en-US"/>
          </a:p>
        </p:txBody>
      </p:sp>
    </p:spTree>
    <p:extLst>
      <p:ext uri="{BB962C8B-B14F-4D97-AF65-F5344CB8AC3E}">
        <p14:creationId xmlns:p14="http://schemas.microsoft.com/office/powerpoint/2010/main" val="1502432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B207F-A8E3-9325-929A-4A86D8CD9B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6BE39E-C925-80AB-F0EB-D1B13A9EB0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1D590E-474B-8514-7CCF-C90687E4C6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E90650-2AB9-69F2-BF0E-63871A68208C}"/>
              </a:ext>
            </a:extLst>
          </p:cNvPr>
          <p:cNvSpPr>
            <a:spLocks noGrp="1"/>
          </p:cNvSpPr>
          <p:nvPr>
            <p:ph type="sldNum" sz="quarter" idx="5"/>
          </p:nvPr>
        </p:nvSpPr>
        <p:spPr/>
        <p:txBody>
          <a:bodyPr/>
          <a:lstStyle/>
          <a:p>
            <a:fld id="{C119E7F2-498D-45ED-A645-8BBCF90873D0}" type="slidenum">
              <a:rPr lang="en-US" smtClean="0"/>
              <a:t>14</a:t>
            </a:fld>
            <a:endParaRPr lang="en-US"/>
          </a:p>
        </p:txBody>
      </p:sp>
    </p:spTree>
    <p:extLst>
      <p:ext uri="{BB962C8B-B14F-4D97-AF65-F5344CB8AC3E}">
        <p14:creationId xmlns:p14="http://schemas.microsoft.com/office/powerpoint/2010/main" val="25352593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8B92A-459E-CE51-0D67-D2726F6496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B24BF3-03DD-23E9-D677-E0B7DAB082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D874BA-689D-1ABD-21CD-4369FE2526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D90BA1-CD2C-96FF-1BD3-D192CED24260}"/>
              </a:ext>
            </a:extLst>
          </p:cNvPr>
          <p:cNvSpPr>
            <a:spLocks noGrp="1"/>
          </p:cNvSpPr>
          <p:nvPr>
            <p:ph type="sldNum" sz="quarter" idx="5"/>
          </p:nvPr>
        </p:nvSpPr>
        <p:spPr/>
        <p:txBody>
          <a:bodyPr/>
          <a:lstStyle/>
          <a:p>
            <a:fld id="{C119E7F2-498D-45ED-A645-8BBCF90873D0}" type="slidenum">
              <a:rPr lang="en-US" smtClean="0"/>
              <a:t>15</a:t>
            </a:fld>
            <a:endParaRPr lang="en-US"/>
          </a:p>
        </p:txBody>
      </p:sp>
    </p:spTree>
    <p:extLst>
      <p:ext uri="{BB962C8B-B14F-4D97-AF65-F5344CB8AC3E}">
        <p14:creationId xmlns:p14="http://schemas.microsoft.com/office/powerpoint/2010/main" val="9226076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F3568-8D0F-12B2-1664-184786A5F8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0056AF0-759A-A4E3-2645-C80D3FF382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31588D2-B229-8CAE-A88C-CEE86B58EC0E}"/>
              </a:ext>
            </a:extLst>
          </p:cNvPr>
          <p:cNvSpPr>
            <a:spLocks noGrp="1"/>
          </p:cNvSpPr>
          <p:nvPr>
            <p:ph type="dt" sz="half" idx="10"/>
          </p:nvPr>
        </p:nvSpPr>
        <p:spPr/>
        <p:txBody>
          <a:bodyPr/>
          <a:lstStyle/>
          <a:p>
            <a:fld id="{C198EE3F-C531-4F47-81BE-EB7857D8F039}" type="datetimeFigureOut">
              <a:rPr lang="en-US" smtClean="0"/>
              <a:t>2/20/2026</a:t>
            </a:fld>
            <a:endParaRPr lang="en-US"/>
          </a:p>
        </p:txBody>
      </p:sp>
      <p:sp>
        <p:nvSpPr>
          <p:cNvPr id="5" name="Footer Placeholder 4">
            <a:extLst>
              <a:ext uri="{FF2B5EF4-FFF2-40B4-BE49-F238E27FC236}">
                <a16:creationId xmlns:a16="http://schemas.microsoft.com/office/drawing/2014/main" id="{62D36696-14B1-63FA-A611-C72414BCC8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DED547-75DA-E272-930D-FAA153520EC3}"/>
              </a:ext>
            </a:extLst>
          </p:cNvPr>
          <p:cNvSpPr>
            <a:spLocks noGrp="1"/>
          </p:cNvSpPr>
          <p:nvPr>
            <p:ph type="sldNum" sz="quarter" idx="12"/>
          </p:nvPr>
        </p:nvSpPr>
        <p:spPr/>
        <p:txBody>
          <a:bodyPr/>
          <a:lstStyle/>
          <a:p>
            <a:fld id="{1DE1F63E-44D9-46F9-A101-DE9709C851B9}" type="slidenum">
              <a:rPr lang="en-US" smtClean="0"/>
              <a:t>‹#›</a:t>
            </a:fld>
            <a:endParaRPr lang="en-US"/>
          </a:p>
        </p:txBody>
      </p:sp>
    </p:spTree>
    <p:extLst>
      <p:ext uri="{BB962C8B-B14F-4D97-AF65-F5344CB8AC3E}">
        <p14:creationId xmlns:p14="http://schemas.microsoft.com/office/powerpoint/2010/main" val="2474381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F180D-165A-539F-988D-0EB996D766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EA583E-A70C-7C45-8107-25C7E2C5FD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E87647-B41E-A018-6CEB-6C853E55A547}"/>
              </a:ext>
            </a:extLst>
          </p:cNvPr>
          <p:cNvSpPr>
            <a:spLocks noGrp="1"/>
          </p:cNvSpPr>
          <p:nvPr>
            <p:ph type="dt" sz="half" idx="10"/>
          </p:nvPr>
        </p:nvSpPr>
        <p:spPr/>
        <p:txBody>
          <a:bodyPr/>
          <a:lstStyle/>
          <a:p>
            <a:fld id="{C198EE3F-C531-4F47-81BE-EB7857D8F039}" type="datetimeFigureOut">
              <a:rPr lang="en-US" smtClean="0"/>
              <a:t>2/20/2026</a:t>
            </a:fld>
            <a:endParaRPr lang="en-US"/>
          </a:p>
        </p:txBody>
      </p:sp>
      <p:sp>
        <p:nvSpPr>
          <p:cNvPr id="5" name="Footer Placeholder 4">
            <a:extLst>
              <a:ext uri="{FF2B5EF4-FFF2-40B4-BE49-F238E27FC236}">
                <a16:creationId xmlns:a16="http://schemas.microsoft.com/office/drawing/2014/main" id="{FFFDC4F3-C258-6D8F-01A9-3B559F7EE7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FE4EC3-6EA3-5F2C-BF6F-00173D929185}"/>
              </a:ext>
            </a:extLst>
          </p:cNvPr>
          <p:cNvSpPr>
            <a:spLocks noGrp="1"/>
          </p:cNvSpPr>
          <p:nvPr>
            <p:ph type="sldNum" sz="quarter" idx="12"/>
          </p:nvPr>
        </p:nvSpPr>
        <p:spPr/>
        <p:txBody>
          <a:bodyPr/>
          <a:lstStyle/>
          <a:p>
            <a:fld id="{1DE1F63E-44D9-46F9-A101-DE9709C851B9}" type="slidenum">
              <a:rPr lang="en-US" smtClean="0"/>
              <a:t>‹#›</a:t>
            </a:fld>
            <a:endParaRPr lang="en-US"/>
          </a:p>
        </p:txBody>
      </p:sp>
    </p:spTree>
    <p:extLst>
      <p:ext uri="{BB962C8B-B14F-4D97-AF65-F5344CB8AC3E}">
        <p14:creationId xmlns:p14="http://schemas.microsoft.com/office/powerpoint/2010/main" val="42258112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CAD91-10E8-66E0-7116-9E05A14B24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85B0959-42B9-D46F-59B5-8EF41EDB4C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08C846-102F-8D21-1D7E-B349A4D90E78}"/>
              </a:ext>
            </a:extLst>
          </p:cNvPr>
          <p:cNvSpPr>
            <a:spLocks noGrp="1"/>
          </p:cNvSpPr>
          <p:nvPr>
            <p:ph type="dt" sz="half" idx="10"/>
          </p:nvPr>
        </p:nvSpPr>
        <p:spPr/>
        <p:txBody>
          <a:bodyPr/>
          <a:lstStyle/>
          <a:p>
            <a:fld id="{C198EE3F-C531-4F47-81BE-EB7857D8F039}" type="datetimeFigureOut">
              <a:rPr lang="en-US" smtClean="0"/>
              <a:t>2/20/2026</a:t>
            </a:fld>
            <a:endParaRPr lang="en-US"/>
          </a:p>
        </p:txBody>
      </p:sp>
      <p:sp>
        <p:nvSpPr>
          <p:cNvPr id="5" name="Footer Placeholder 4">
            <a:extLst>
              <a:ext uri="{FF2B5EF4-FFF2-40B4-BE49-F238E27FC236}">
                <a16:creationId xmlns:a16="http://schemas.microsoft.com/office/drawing/2014/main" id="{6F1C0D46-6E00-8B86-AA5B-0AA49D2974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CBCEF6-CB65-E675-117E-C1837C8B78FC}"/>
              </a:ext>
            </a:extLst>
          </p:cNvPr>
          <p:cNvSpPr>
            <a:spLocks noGrp="1"/>
          </p:cNvSpPr>
          <p:nvPr>
            <p:ph type="sldNum" sz="quarter" idx="12"/>
          </p:nvPr>
        </p:nvSpPr>
        <p:spPr/>
        <p:txBody>
          <a:bodyPr/>
          <a:lstStyle/>
          <a:p>
            <a:fld id="{1DE1F63E-44D9-46F9-A101-DE9709C851B9}" type="slidenum">
              <a:rPr lang="en-US" smtClean="0"/>
              <a:t>‹#›</a:t>
            </a:fld>
            <a:endParaRPr lang="en-US"/>
          </a:p>
        </p:txBody>
      </p:sp>
    </p:spTree>
    <p:extLst>
      <p:ext uri="{BB962C8B-B14F-4D97-AF65-F5344CB8AC3E}">
        <p14:creationId xmlns:p14="http://schemas.microsoft.com/office/powerpoint/2010/main" val="1212770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1314E-C1A4-C501-FD62-142E1A2F1A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ED04E6-196B-CCC6-593A-E188185E3C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6F29BD0-3E57-15FB-FFFD-F18ADDF227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71CDF2-6F09-1192-8959-8DFAD7567F90}"/>
              </a:ext>
            </a:extLst>
          </p:cNvPr>
          <p:cNvSpPr>
            <a:spLocks noGrp="1"/>
          </p:cNvSpPr>
          <p:nvPr>
            <p:ph type="dt" sz="half" idx="10"/>
          </p:nvPr>
        </p:nvSpPr>
        <p:spPr/>
        <p:txBody>
          <a:bodyPr/>
          <a:lstStyle/>
          <a:p>
            <a:fld id="{C198EE3F-C531-4F47-81BE-EB7857D8F039}" type="datetimeFigureOut">
              <a:rPr lang="en-US" smtClean="0"/>
              <a:t>2/20/2026</a:t>
            </a:fld>
            <a:endParaRPr lang="en-US"/>
          </a:p>
        </p:txBody>
      </p:sp>
      <p:sp>
        <p:nvSpPr>
          <p:cNvPr id="6" name="Footer Placeholder 5">
            <a:extLst>
              <a:ext uri="{FF2B5EF4-FFF2-40B4-BE49-F238E27FC236}">
                <a16:creationId xmlns:a16="http://schemas.microsoft.com/office/drawing/2014/main" id="{311510EF-83D8-3B5B-D87B-EFC9768EFA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FF709B-0354-9642-1667-3FBFE238B925}"/>
              </a:ext>
            </a:extLst>
          </p:cNvPr>
          <p:cNvSpPr>
            <a:spLocks noGrp="1"/>
          </p:cNvSpPr>
          <p:nvPr>
            <p:ph type="sldNum" sz="quarter" idx="12"/>
          </p:nvPr>
        </p:nvSpPr>
        <p:spPr/>
        <p:txBody>
          <a:bodyPr/>
          <a:lstStyle/>
          <a:p>
            <a:fld id="{1DE1F63E-44D9-46F9-A101-DE9709C851B9}" type="slidenum">
              <a:rPr lang="en-US" smtClean="0"/>
              <a:t>‹#›</a:t>
            </a:fld>
            <a:endParaRPr lang="en-US"/>
          </a:p>
        </p:txBody>
      </p:sp>
    </p:spTree>
    <p:extLst>
      <p:ext uri="{BB962C8B-B14F-4D97-AF65-F5344CB8AC3E}">
        <p14:creationId xmlns:p14="http://schemas.microsoft.com/office/powerpoint/2010/main" val="1060156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E57C-69F7-1F25-2E9C-A6CB47BDB6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221B58-BD95-4A45-FEDB-09DC4E5290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BFC855-12DA-9B64-F0D3-72714134180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5E6AE8B-71E3-98AB-4E88-E3B24FB3CF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E3E7E2-ECEE-C343-F56B-3CCCDB8323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0E6F8F8-4BE8-8E34-4D70-75246A3EBF13}"/>
              </a:ext>
            </a:extLst>
          </p:cNvPr>
          <p:cNvSpPr>
            <a:spLocks noGrp="1"/>
          </p:cNvSpPr>
          <p:nvPr>
            <p:ph type="dt" sz="half" idx="10"/>
          </p:nvPr>
        </p:nvSpPr>
        <p:spPr/>
        <p:txBody>
          <a:bodyPr/>
          <a:lstStyle/>
          <a:p>
            <a:fld id="{C198EE3F-C531-4F47-81BE-EB7857D8F039}" type="datetimeFigureOut">
              <a:rPr lang="en-US" smtClean="0"/>
              <a:t>2/20/2026</a:t>
            </a:fld>
            <a:endParaRPr lang="en-US"/>
          </a:p>
        </p:txBody>
      </p:sp>
      <p:sp>
        <p:nvSpPr>
          <p:cNvPr id="8" name="Footer Placeholder 7">
            <a:extLst>
              <a:ext uri="{FF2B5EF4-FFF2-40B4-BE49-F238E27FC236}">
                <a16:creationId xmlns:a16="http://schemas.microsoft.com/office/drawing/2014/main" id="{9CD66D3F-3415-1C84-186F-C52F0C25FDE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53D3CBA-2B1A-1E6A-76D5-08243EC092E2}"/>
              </a:ext>
            </a:extLst>
          </p:cNvPr>
          <p:cNvSpPr>
            <a:spLocks noGrp="1"/>
          </p:cNvSpPr>
          <p:nvPr>
            <p:ph type="sldNum" sz="quarter" idx="12"/>
          </p:nvPr>
        </p:nvSpPr>
        <p:spPr/>
        <p:txBody>
          <a:bodyPr/>
          <a:lstStyle/>
          <a:p>
            <a:fld id="{1DE1F63E-44D9-46F9-A101-DE9709C851B9}" type="slidenum">
              <a:rPr lang="en-US" smtClean="0"/>
              <a:t>‹#›</a:t>
            </a:fld>
            <a:endParaRPr lang="en-US"/>
          </a:p>
        </p:txBody>
      </p:sp>
    </p:spTree>
    <p:extLst>
      <p:ext uri="{BB962C8B-B14F-4D97-AF65-F5344CB8AC3E}">
        <p14:creationId xmlns:p14="http://schemas.microsoft.com/office/powerpoint/2010/main" val="1623616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DB644-DEE1-8B12-605A-A1929DCF3CD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347B70-24FE-ADC5-853D-B46C4E87680F}"/>
              </a:ext>
            </a:extLst>
          </p:cNvPr>
          <p:cNvSpPr>
            <a:spLocks noGrp="1"/>
          </p:cNvSpPr>
          <p:nvPr>
            <p:ph type="dt" sz="half" idx="10"/>
          </p:nvPr>
        </p:nvSpPr>
        <p:spPr/>
        <p:txBody>
          <a:bodyPr/>
          <a:lstStyle/>
          <a:p>
            <a:fld id="{C198EE3F-C531-4F47-81BE-EB7857D8F039}" type="datetimeFigureOut">
              <a:rPr lang="en-US" smtClean="0"/>
              <a:t>2/20/2026</a:t>
            </a:fld>
            <a:endParaRPr lang="en-US"/>
          </a:p>
        </p:txBody>
      </p:sp>
      <p:sp>
        <p:nvSpPr>
          <p:cNvPr id="4" name="Footer Placeholder 3">
            <a:extLst>
              <a:ext uri="{FF2B5EF4-FFF2-40B4-BE49-F238E27FC236}">
                <a16:creationId xmlns:a16="http://schemas.microsoft.com/office/drawing/2014/main" id="{41F42AAB-9E81-1CA9-87B8-C50FAD9CD7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841B612-CDFC-460B-C095-CD009700AFAB}"/>
              </a:ext>
            </a:extLst>
          </p:cNvPr>
          <p:cNvSpPr>
            <a:spLocks noGrp="1"/>
          </p:cNvSpPr>
          <p:nvPr>
            <p:ph type="sldNum" sz="quarter" idx="12"/>
          </p:nvPr>
        </p:nvSpPr>
        <p:spPr/>
        <p:txBody>
          <a:bodyPr/>
          <a:lstStyle/>
          <a:p>
            <a:fld id="{1DE1F63E-44D9-46F9-A101-DE9709C851B9}" type="slidenum">
              <a:rPr lang="en-US" smtClean="0"/>
              <a:t>‹#›</a:t>
            </a:fld>
            <a:endParaRPr lang="en-US"/>
          </a:p>
        </p:txBody>
      </p:sp>
    </p:spTree>
    <p:extLst>
      <p:ext uri="{BB962C8B-B14F-4D97-AF65-F5344CB8AC3E}">
        <p14:creationId xmlns:p14="http://schemas.microsoft.com/office/powerpoint/2010/main" val="1361528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355967-9097-746A-5201-CAC2D6BEBCED}"/>
              </a:ext>
            </a:extLst>
          </p:cNvPr>
          <p:cNvSpPr>
            <a:spLocks noGrp="1"/>
          </p:cNvSpPr>
          <p:nvPr>
            <p:ph type="dt" sz="half" idx="10"/>
          </p:nvPr>
        </p:nvSpPr>
        <p:spPr/>
        <p:txBody>
          <a:bodyPr/>
          <a:lstStyle/>
          <a:p>
            <a:fld id="{C198EE3F-C531-4F47-81BE-EB7857D8F039}" type="datetimeFigureOut">
              <a:rPr lang="en-US" smtClean="0"/>
              <a:t>2/20/2026</a:t>
            </a:fld>
            <a:endParaRPr lang="en-US"/>
          </a:p>
        </p:txBody>
      </p:sp>
      <p:sp>
        <p:nvSpPr>
          <p:cNvPr id="3" name="Footer Placeholder 2">
            <a:extLst>
              <a:ext uri="{FF2B5EF4-FFF2-40B4-BE49-F238E27FC236}">
                <a16:creationId xmlns:a16="http://schemas.microsoft.com/office/drawing/2014/main" id="{BE7B7073-CC7D-DF49-AD4D-B30D6086A6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358D79B-6156-150F-4710-870E12AD0656}"/>
              </a:ext>
            </a:extLst>
          </p:cNvPr>
          <p:cNvSpPr>
            <a:spLocks noGrp="1"/>
          </p:cNvSpPr>
          <p:nvPr>
            <p:ph type="sldNum" sz="quarter" idx="12"/>
          </p:nvPr>
        </p:nvSpPr>
        <p:spPr/>
        <p:txBody>
          <a:bodyPr/>
          <a:lstStyle/>
          <a:p>
            <a:fld id="{1DE1F63E-44D9-46F9-A101-DE9709C851B9}" type="slidenum">
              <a:rPr lang="en-US" smtClean="0"/>
              <a:t>‹#›</a:t>
            </a:fld>
            <a:endParaRPr lang="en-US"/>
          </a:p>
        </p:txBody>
      </p:sp>
    </p:spTree>
    <p:extLst>
      <p:ext uri="{BB962C8B-B14F-4D97-AF65-F5344CB8AC3E}">
        <p14:creationId xmlns:p14="http://schemas.microsoft.com/office/powerpoint/2010/main" val="745306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B27EA-73D5-43A3-9C2F-CE831A31D8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7800DC7-AACA-CC89-1F98-C90DEE95C4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1064ED-7F16-9508-596A-84E98375BA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AE5497-1F50-B654-B8BE-9A8A124CEF76}"/>
              </a:ext>
            </a:extLst>
          </p:cNvPr>
          <p:cNvSpPr>
            <a:spLocks noGrp="1"/>
          </p:cNvSpPr>
          <p:nvPr>
            <p:ph type="dt" sz="half" idx="10"/>
          </p:nvPr>
        </p:nvSpPr>
        <p:spPr/>
        <p:txBody>
          <a:bodyPr/>
          <a:lstStyle/>
          <a:p>
            <a:fld id="{C198EE3F-C531-4F47-81BE-EB7857D8F039}" type="datetimeFigureOut">
              <a:rPr lang="en-US" smtClean="0"/>
              <a:t>2/20/2026</a:t>
            </a:fld>
            <a:endParaRPr lang="en-US"/>
          </a:p>
        </p:txBody>
      </p:sp>
      <p:sp>
        <p:nvSpPr>
          <p:cNvPr id="6" name="Footer Placeholder 5">
            <a:extLst>
              <a:ext uri="{FF2B5EF4-FFF2-40B4-BE49-F238E27FC236}">
                <a16:creationId xmlns:a16="http://schemas.microsoft.com/office/drawing/2014/main" id="{EBE2BAAC-26CD-7B36-B591-C7DCA1CB83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C1AD99-36C2-36F5-758E-0C6F0B2E64C6}"/>
              </a:ext>
            </a:extLst>
          </p:cNvPr>
          <p:cNvSpPr>
            <a:spLocks noGrp="1"/>
          </p:cNvSpPr>
          <p:nvPr>
            <p:ph type="sldNum" sz="quarter" idx="12"/>
          </p:nvPr>
        </p:nvSpPr>
        <p:spPr/>
        <p:txBody>
          <a:bodyPr/>
          <a:lstStyle/>
          <a:p>
            <a:fld id="{1DE1F63E-44D9-46F9-A101-DE9709C851B9}" type="slidenum">
              <a:rPr lang="en-US" smtClean="0"/>
              <a:t>‹#›</a:t>
            </a:fld>
            <a:endParaRPr lang="en-US"/>
          </a:p>
        </p:txBody>
      </p:sp>
    </p:spTree>
    <p:extLst>
      <p:ext uri="{BB962C8B-B14F-4D97-AF65-F5344CB8AC3E}">
        <p14:creationId xmlns:p14="http://schemas.microsoft.com/office/powerpoint/2010/main" val="2825899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739EC-8833-DBBD-3203-B8CEA41929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05D6FCA-50E7-B653-9DFA-E0C4A0446E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58EFD06-2A7C-1C25-7DAD-0EDFC5E66D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078226-5CBA-7082-1BA0-E3B94005A987}"/>
              </a:ext>
            </a:extLst>
          </p:cNvPr>
          <p:cNvSpPr>
            <a:spLocks noGrp="1"/>
          </p:cNvSpPr>
          <p:nvPr>
            <p:ph type="dt" sz="half" idx="10"/>
          </p:nvPr>
        </p:nvSpPr>
        <p:spPr/>
        <p:txBody>
          <a:bodyPr/>
          <a:lstStyle/>
          <a:p>
            <a:fld id="{C198EE3F-C531-4F47-81BE-EB7857D8F039}" type="datetimeFigureOut">
              <a:rPr lang="en-US" smtClean="0"/>
              <a:t>2/20/2026</a:t>
            </a:fld>
            <a:endParaRPr lang="en-US"/>
          </a:p>
        </p:txBody>
      </p:sp>
      <p:sp>
        <p:nvSpPr>
          <p:cNvPr id="6" name="Footer Placeholder 5">
            <a:extLst>
              <a:ext uri="{FF2B5EF4-FFF2-40B4-BE49-F238E27FC236}">
                <a16:creationId xmlns:a16="http://schemas.microsoft.com/office/drawing/2014/main" id="{3799CD9D-1154-F96C-0DCF-2D72F5E85F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C55AC5-9DA2-3859-721C-0FD9546297EE}"/>
              </a:ext>
            </a:extLst>
          </p:cNvPr>
          <p:cNvSpPr>
            <a:spLocks noGrp="1"/>
          </p:cNvSpPr>
          <p:nvPr>
            <p:ph type="sldNum" sz="quarter" idx="12"/>
          </p:nvPr>
        </p:nvSpPr>
        <p:spPr/>
        <p:txBody>
          <a:bodyPr/>
          <a:lstStyle/>
          <a:p>
            <a:fld id="{1DE1F63E-44D9-46F9-A101-DE9709C851B9}" type="slidenum">
              <a:rPr lang="en-US" smtClean="0"/>
              <a:t>‹#›</a:t>
            </a:fld>
            <a:endParaRPr lang="en-US"/>
          </a:p>
        </p:txBody>
      </p:sp>
    </p:spTree>
    <p:extLst>
      <p:ext uri="{BB962C8B-B14F-4D97-AF65-F5344CB8AC3E}">
        <p14:creationId xmlns:p14="http://schemas.microsoft.com/office/powerpoint/2010/main" val="904745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5EB10-A5AA-D1BF-FF8F-04DE29308A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7B72D6-D168-0F0E-7C15-A513A1EE4D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11B1C5-B1F3-315A-28DE-59921770B617}"/>
              </a:ext>
            </a:extLst>
          </p:cNvPr>
          <p:cNvSpPr>
            <a:spLocks noGrp="1"/>
          </p:cNvSpPr>
          <p:nvPr>
            <p:ph type="dt" sz="half" idx="10"/>
          </p:nvPr>
        </p:nvSpPr>
        <p:spPr/>
        <p:txBody>
          <a:bodyPr/>
          <a:lstStyle/>
          <a:p>
            <a:fld id="{C198EE3F-C531-4F47-81BE-EB7857D8F039}" type="datetimeFigureOut">
              <a:rPr lang="en-US" smtClean="0"/>
              <a:t>2/20/2026</a:t>
            </a:fld>
            <a:endParaRPr lang="en-US"/>
          </a:p>
        </p:txBody>
      </p:sp>
      <p:sp>
        <p:nvSpPr>
          <p:cNvPr id="5" name="Footer Placeholder 4">
            <a:extLst>
              <a:ext uri="{FF2B5EF4-FFF2-40B4-BE49-F238E27FC236}">
                <a16:creationId xmlns:a16="http://schemas.microsoft.com/office/drawing/2014/main" id="{F178FF44-D482-FBCC-6D7C-A560596708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A3FC32-CD8B-D3AE-F273-E8781644A74C}"/>
              </a:ext>
            </a:extLst>
          </p:cNvPr>
          <p:cNvSpPr>
            <a:spLocks noGrp="1"/>
          </p:cNvSpPr>
          <p:nvPr>
            <p:ph type="sldNum" sz="quarter" idx="12"/>
          </p:nvPr>
        </p:nvSpPr>
        <p:spPr/>
        <p:txBody>
          <a:bodyPr/>
          <a:lstStyle/>
          <a:p>
            <a:fld id="{1DE1F63E-44D9-46F9-A101-DE9709C851B9}" type="slidenum">
              <a:rPr lang="en-US" smtClean="0"/>
              <a:t>‹#›</a:t>
            </a:fld>
            <a:endParaRPr lang="en-US"/>
          </a:p>
        </p:txBody>
      </p:sp>
    </p:spTree>
    <p:extLst>
      <p:ext uri="{BB962C8B-B14F-4D97-AF65-F5344CB8AC3E}">
        <p14:creationId xmlns:p14="http://schemas.microsoft.com/office/powerpoint/2010/main" val="2062460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2F44A3-7622-2359-3959-8084367E32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B8ADB2C-B6E9-3A9A-2942-7C7BB24904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D69660-2225-3721-0976-6AFC5F5AAAA0}"/>
              </a:ext>
            </a:extLst>
          </p:cNvPr>
          <p:cNvSpPr>
            <a:spLocks noGrp="1"/>
          </p:cNvSpPr>
          <p:nvPr>
            <p:ph type="dt" sz="half" idx="10"/>
          </p:nvPr>
        </p:nvSpPr>
        <p:spPr/>
        <p:txBody>
          <a:bodyPr/>
          <a:lstStyle/>
          <a:p>
            <a:fld id="{C198EE3F-C531-4F47-81BE-EB7857D8F039}" type="datetimeFigureOut">
              <a:rPr lang="en-US" smtClean="0"/>
              <a:t>2/20/2026</a:t>
            </a:fld>
            <a:endParaRPr lang="en-US"/>
          </a:p>
        </p:txBody>
      </p:sp>
      <p:sp>
        <p:nvSpPr>
          <p:cNvPr id="5" name="Footer Placeholder 4">
            <a:extLst>
              <a:ext uri="{FF2B5EF4-FFF2-40B4-BE49-F238E27FC236}">
                <a16:creationId xmlns:a16="http://schemas.microsoft.com/office/drawing/2014/main" id="{B452324C-9FFF-9ED9-CE19-0B2152EBC9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F10D2B-EBC7-CE7C-22B1-2CEEABC321FF}"/>
              </a:ext>
            </a:extLst>
          </p:cNvPr>
          <p:cNvSpPr>
            <a:spLocks noGrp="1"/>
          </p:cNvSpPr>
          <p:nvPr>
            <p:ph type="sldNum" sz="quarter" idx="12"/>
          </p:nvPr>
        </p:nvSpPr>
        <p:spPr/>
        <p:txBody>
          <a:bodyPr/>
          <a:lstStyle/>
          <a:p>
            <a:fld id="{1DE1F63E-44D9-46F9-A101-DE9709C851B9}" type="slidenum">
              <a:rPr lang="en-US" smtClean="0"/>
              <a:t>‹#›</a:t>
            </a:fld>
            <a:endParaRPr lang="en-US"/>
          </a:p>
        </p:txBody>
      </p:sp>
    </p:spTree>
    <p:extLst>
      <p:ext uri="{BB962C8B-B14F-4D97-AF65-F5344CB8AC3E}">
        <p14:creationId xmlns:p14="http://schemas.microsoft.com/office/powerpoint/2010/main" val="2905535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76CC29-6413-07E0-0F83-2F54ECF872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AF91D0-9C92-7385-25EA-22597435D3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2BB74F-46D8-03EF-2D51-64C4700BD8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98EE3F-C531-4F47-81BE-EB7857D8F039}" type="datetimeFigureOut">
              <a:rPr lang="en-US" smtClean="0"/>
              <a:t>2/20/2026</a:t>
            </a:fld>
            <a:endParaRPr lang="en-US"/>
          </a:p>
        </p:txBody>
      </p:sp>
      <p:sp>
        <p:nvSpPr>
          <p:cNvPr id="5" name="Footer Placeholder 4">
            <a:extLst>
              <a:ext uri="{FF2B5EF4-FFF2-40B4-BE49-F238E27FC236}">
                <a16:creationId xmlns:a16="http://schemas.microsoft.com/office/drawing/2014/main" id="{BD3BC302-2576-AF44-615A-AADF1B540C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BAFD645-FDED-209E-23CB-CDA5522E15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E1F63E-44D9-46F9-A101-DE9709C851B9}" type="slidenum">
              <a:rPr lang="en-US" smtClean="0"/>
              <a:t>‹#›</a:t>
            </a:fld>
            <a:endParaRPr lang="en-US"/>
          </a:p>
        </p:txBody>
      </p:sp>
    </p:spTree>
    <p:extLst>
      <p:ext uri="{BB962C8B-B14F-4D97-AF65-F5344CB8AC3E}">
        <p14:creationId xmlns:p14="http://schemas.microsoft.com/office/powerpoint/2010/main" val="203574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www.kaggle.com/datasets/stephanmatzka/predictive-maintenance-dataset-ai4i-2020"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hyperlink" Target="https://flask.palletsprojects.com/en/stable/" TargetMode="External"/><Relationship Id="rId5" Type="http://schemas.openxmlformats.org/officeDocument/2006/relationships/hyperlink" Target="https://keras.io/" TargetMode="External"/><Relationship Id="rId4" Type="http://schemas.openxmlformats.org/officeDocument/2006/relationships/hyperlink" Target="https://www.geeksforgeeks.org/deep-learning/deep-learning-introduction-to-long-short-term-memory/"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6C65C56-0737-6750-E644-CD750C5836DE}"/>
              </a:ext>
            </a:extLst>
          </p:cNvPr>
          <p:cNvSpPr txBox="1"/>
          <p:nvPr/>
        </p:nvSpPr>
        <p:spPr>
          <a:xfrm>
            <a:off x="147484" y="1543664"/>
            <a:ext cx="11968316" cy="5693866"/>
          </a:xfrm>
          <a:prstGeom prst="rect">
            <a:avLst/>
          </a:prstGeom>
          <a:noFill/>
        </p:spPr>
        <p:txBody>
          <a:bodyPr wrap="square">
            <a:spAutoFit/>
          </a:bodyPr>
          <a:lstStyle/>
          <a:p>
            <a:pPr algn="ctr"/>
            <a:r>
              <a:rPr lang="en-US" sz="2600" dirty="0">
                <a:latin typeface="Times New Roman" panose="02020603050405020304" pitchFamily="18" charset="0"/>
                <a:cs typeface="Times New Roman" panose="02020603050405020304" pitchFamily="18" charset="0"/>
              </a:rPr>
              <a:t>IBM Project Presentation</a:t>
            </a:r>
          </a:p>
          <a:p>
            <a:pPr algn="ctr"/>
            <a:r>
              <a:rPr lang="en-US" sz="2600" dirty="0">
                <a:latin typeface="Times New Roman" panose="02020603050405020304" pitchFamily="18" charset="0"/>
                <a:cs typeface="Times New Roman" panose="02020603050405020304" pitchFamily="18" charset="0"/>
              </a:rPr>
              <a:t>on</a:t>
            </a:r>
          </a:p>
          <a:p>
            <a:pPr algn="ctr"/>
            <a:r>
              <a:rPr lang="en-US" sz="2600" dirty="0">
                <a:latin typeface="Times New Roman" panose="02020603050405020304" pitchFamily="18" charset="0"/>
                <a:cs typeface="Times New Roman" panose="02020603050405020304" pitchFamily="18" charset="0"/>
              </a:rPr>
              <a:t>“Proactive Equipment Care using Analytics with Cloud - Cloud Integrated Analytics” </a:t>
            </a:r>
          </a:p>
          <a:p>
            <a:pPr algn="ctr"/>
            <a:r>
              <a:rPr lang="en-US" sz="2600" dirty="0">
                <a:latin typeface="Times New Roman" panose="02020603050405020304" pitchFamily="18" charset="0"/>
                <a:cs typeface="Times New Roman" panose="02020603050405020304" pitchFamily="18" charset="0"/>
              </a:rPr>
              <a:t>By </a:t>
            </a:r>
          </a:p>
          <a:p>
            <a:pPr algn="ctr"/>
            <a:r>
              <a:rPr lang="en-US" sz="2600" dirty="0">
                <a:latin typeface="Times New Roman" panose="02020603050405020304" pitchFamily="18" charset="0"/>
                <a:cs typeface="Times New Roman" panose="02020603050405020304" pitchFamily="18" charset="0"/>
              </a:rPr>
              <a:t>Group ID: G03</a:t>
            </a:r>
          </a:p>
          <a:p>
            <a:pPr algn="ctr"/>
            <a:r>
              <a:rPr lang="en-US" sz="2600" dirty="0">
                <a:latin typeface="Times New Roman" panose="02020603050405020304" pitchFamily="18" charset="0"/>
                <a:cs typeface="Times New Roman" panose="02020603050405020304" pitchFamily="18" charset="0"/>
              </a:rPr>
              <a:t>Team Members Name &amp; Enrollment No:</a:t>
            </a:r>
          </a:p>
          <a:p>
            <a:pPr algn="ctr"/>
            <a:r>
              <a:rPr lang="en-US" sz="2600" dirty="0">
                <a:latin typeface="Times New Roman" panose="02020603050405020304" pitchFamily="18" charset="0"/>
                <a:cs typeface="Times New Roman" panose="02020603050405020304" pitchFamily="18" charset="0"/>
              </a:rPr>
              <a:t>Patel Megh(22162121011)</a:t>
            </a:r>
          </a:p>
          <a:p>
            <a:pPr algn="ctr"/>
            <a:r>
              <a:rPr lang="en-US" sz="2600" dirty="0">
                <a:latin typeface="Times New Roman" panose="02020603050405020304" pitchFamily="18" charset="0"/>
                <a:cs typeface="Times New Roman" panose="02020603050405020304" pitchFamily="18" charset="0"/>
              </a:rPr>
              <a:t>Prajapati Pratham(22162171023)</a:t>
            </a:r>
          </a:p>
          <a:p>
            <a:pPr algn="ctr"/>
            <a:r>
              <a:rPr lang="en-US" sz="2600" dirty="0">
                <a:latin typeface="Times New Roman" panose="02020603050405020304" pitchFamily="18" charset="0"/>
                <a:cs typeface="Times New Roman" panose="02020603050405020304" pitchFamily="18" charset="0"/>
              </a:rPr>
              <a:t>Patel Tirth(22162101016)</a:t>
            </a:r>
          </a:p>
          <a:p>
            <a:pPr algn="ctr"/>
            <a:r>
              <a:rPr lang="en-US" sz="2600" dirty="0">
                <a:latin typeface="Times New Roman" panose="02020603050405020304" pitchFamily="18" charset="0"/>
                <a:cs typeface="Times New Roman" panose="02020603050405020304" pitchFamily="18" charset="0"/>
              </a:rPr>
              <a:t> Under The guidance of </a:t>
            </a:r>
          </a:p>
          <a:p>
            <a:pPr algn="ctr"/>
            <a:r>
              <a:rPr lang="en-US" sz="2600" dirty="0">
                <a:latin typeface="Times New Roman" panose="02020603050405020304" pitchFamily="18" charset="0"/>
                <a:cs typeface="Times New Roman" panose="02020603050405020304" pitchFamily="18" charset="0"/>
              </a:rPr>
              <a:t>Prof. Umesh </a:t>
            </a:r>
            <a:r>
              <a:rPr lang="en-US" sz="2600" dirty="0" err="1">
                <a:latin typeface="Times New Roman" panose="02020603050405020304" pitchFamily="18" charset="0"/>
                <a:cs typeface="Times New Roman" panose="02020603050405020304" pitchFamily="18" charset="0"/>
              </a:rPr>
              <a:t>Lakhtariya</a:t>
            </a:r>
            <a:r>
              <a:rPr lang="en-US" sz="2600" dirty="0">
                <a:latin typeface="Times New Roman" panose="02020603050405020304" pitchFamily="18" charset="0"/>
                <a:cs typeface="Times New Roman" panose="02020603050405020304" pitchFamily="18" charset="0"/>
              </a:rPr>
              <a:t> /Mr. Anoj Dixit</a:t>
            </a:r>
          </a:p>
          <a:p>
            <a:pPr algn="ctr"/>
            <a:r>
              <a:rPr lang="en-US" sz="2600" dirty="0">
                <a:latin typeface="Times New Roman" panose="02020603050405020304" pitchFamily="18" charset="0"/>
                <a:cs typeface="Times New Roman" panose="02020603050405020304" pitchFamily="18" charset="0"/>
              </a:rPr>
              <a:t>Institute Of Computer Technology, Ganpat University</a:t>
            </a:r>
          </a:p>
          <a:p>
            <a:pPr algn="ctr"/>
            <a:r>
              <a:rPr lang="en-US" sz="2600" dirty="0">
                <a:latin typeface="Times New Roman" panose="02020603050405020304" pitchFamily="18" charset="0"/>
                <a:cs typeface="Times New Roman" panose="02020603050405020304" pitchFamily="18" charset="0"/>
              </a:rPr>
              <a:t>Date:- 21</a:t>
            </a:r>
            <a:r>
              <a:rPr lang="en-US" sz="2600" baseline="30000" dirty="0">
                <a:latin typeface="Times New Roman" panose="02020603050405020304" pitchFamily="18" charset="0"/>
                <a:cs typeface="Times New Roman" panose="02020603050405020304" pitchFamily="18" charset="0"/>
              </a:rPr>
              <a:t>th</a:t>
            </a:r>
            <a:r>
              <a:rPr lang="en-US" sz="2600" dirty="0">
                <a:latin typeface="Times New Roman" panose="02020603050405020304" pitchFamily="18" charset="0"/>
                <a:cs typeface="Times New Roman" panose="02020603050405020304" pitchFamily="18" charset="0"/>
              </a:rPr>
              <a:t> February 2026</a:t>
            </a:r>
          </a:p>
          <a:p>
            <a:pPr algn="ctr"/>
            <a:endParaRPr lang="en-US" sz="26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CE7F484A-26CD-F930-A209-2D31F30DB3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4865" y="69606"/>
            <a:ext cx="5142270" cy="1396192"/>
          </a:xfrm>
          <a:prstGeom prst="rect">
            <a:avLst/>
          </a:prstGeom>
        </p:spPr>
      </p:pic>
    </p:spTree>
    <p:extLst>
      <p:ext uri="{BB962C8B-B14F-4D97-AF65-F5344CB8AC3E}">
        <p14:creationId xmlns:p14="http://schemas.microsoft.com/office/powerpoint/2010/main" val="2179043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04CF11-9991-8DF7-ADCE-F176A3D367CA}"/>
              </a:ext>
            </a:extLst>
          </p:cNvPr>
          <p:cNvSpPr txBox="1"/>
          <p:nvPr/>
        </p:nvSpPr>
        <p:spPr>
          <a:xfrm>
            <a:off x="388374" y="108155"/>
            <a:ext cx="11415251" cy="707886"/>
          </a:xfrm>
          <a:prstGeom prst="rect">
            <a:avLst/>
          </a:prstGeom>
          <a:noFill/>
        </p:spPr>
        <p:txBody>
          <a:bodyPr wrap="square" rtlCol="0">
            <a:spAutoFit/>
          </a:bodyPr>
          <a:lstStyle/>
          <a:p>
            <a:pPr algn="ctr"/>
            <a:r>
              <a:rPr lang="en-US" sz="4000" dirty="0"/>
              <a:t>Index Of Content</a:t>
            </a:r>
          </a:p>
        </p:txBody>
      </p:sp>
      <p:sp>
        <p:nvSpPr>
          <p:cNvPr id="3" name="TextBox 2">
            <a:extLst>
              <a:ext uri="{FF2B5EF4-FFF2-40B4-BE49-F238E27FC236}">
                <a16:creationId xmlns:a16="http://schemas.microsoft.com/office/drawing/2014/main" id="{2A0C54F4-5A2B-14F9-1FB2-644F9C2D3A9C}"/>
              </a:ext>
            </a:extLst>
          </p:cNvPr>
          <p:cNvSpPr txBox="1"/>
          <p:nvPr/>
        </p:nvSpPr>
        <p:spPr>
          <a:xfrm>
            <a:off x="388374" y="1484670"/>
            <a:ext cx="11724968" cy="5262979"/>
          </a:xfrm>
          <a:prstGeom prst="rect">
            <a:avLst/>
          </a:prstGeom>
          <a:noFill/>
        </p:spPr>
        <p:txBody>
          <a:bodyPr wrap="square" rtlCol="0">
            <a:spAutoFit/>
          </a:bodyPr>
          <a:lstStyle/>
          <a:p>
            <a:pPr marL="285750" indent="-28575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Abstract</a:t>
            </a:r>
          </a:p>
          <a:p>
            <a:pPr marL="285750" indent="-28575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Problem Statement </a:t>
            </a:r>
          </a:p>
          <a:p>
            <a:pPr marL="285750" indent="-28575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Objectives</a:t>
            </a:r>
          </a:p>
          <a:p>
            <a:pPr marL="285750" indent="-28575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Scope of the Project</a:t>
            </a:r>
          </a:p>
          <a:p>
            <a:pPr marL="285750" indent="-28575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System Architecture</a:t>
            </a:r>
          </a:p>
          <a:p>
            <a:pPr marL="285750" indent="-28575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Workflow of Project</a:t>
            </a:r>
          </a:p>
          <a:p>
            <a:pPr marL="285750" indent="-28575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Technology Stack</a:t>
            </a:r>
          </a:p>
          <a:p>
            <a:pPr marL="285750" indent="-28575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Module Description</a:t>
            </a:r>
          </a:p>
          <a:p>
            <a:pPr marL="285750" indent="-28575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Advantages</a:t>
            </a:r>
          </a:p>
          <a:p>
            <a:pPr marL="285750" indent="-28575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Limitations</a:t>
            </a:r>
          </a:p>
          <a:p>
            <a:pPr marL="285750" indent="-285750">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8470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657590-6701-F00D-6A01-F848739F61F0}"/>
              </a:ext>
            </a:extLst>
          </p:cNvPr>
          <p:cNvSpPr txBox="1"/>
          <p:nvPr/>
        </p:nvSpPr>
        <p:spPr>
          <a:xfrm>
            <a:off x="265471" y="196645"/>
            <a:ext cx="11661058" cy="523220"/>
          </a:xfrm>
          <a:prstGeom prst="rect">
            <a:avLst/>
          </a:prstGeom>
          <a:noFill/>
        </p:spPr>
        <p:txBody>
          <a:bodyPr wrap="square" rtlCol="0">
            <a:spAutoFit/>
          </a:bodyPr>
          <a:lstStyle/>
          <a:p>
            <a:r>
              <a:rPr lang="en-US" sz="2800" b="1" dirty="0"/>
              <a:t>Abstract</a:t>
            </a:r>
          </a:p>
        </p:txBody>
      </p:sp>
      <p:sp>
        <p:nvSpPr>
          <p:cNvPr id="3" name="TextBox 2">
            <a:extLst>
              <a:ext uri="{FF2B5EF4-FFF2-40B4-BE49-F238E27FC236}">
                <a16:creationId xmlns:a16="http://schemas.microsoft.com/office/drawing/2014/main" id="{7A88531B-8F38-D3C2-985F-88E10F40E1C1}"/>
              </a:ext>
            </a:extLst>
          </p:cNvPr>
          <p:cNvSpPr txBox="1"/>
          <p:nvPr/>
        </p:nvSpPr>
        <p:spPr>
          <a:xfrm>
            <a:off x="265471" y="792624"/>
            <a:ext cx="11661058" cy="2554545"/>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latin typeface="Times New Roman" panose="02020603050405020304" pitchFamily="18" charset="0"/>
                <a:ea typeface="Tahoma" panose="020B0604030504040204" pitchFamily="34" charset="0"/>
                <a:cs typeface="Times New Roman" panose="02020603050405020304" pitchFamily="18" charset="0"/>
              </a:rPr>
              <a:t>Proactive Equipment Care using Analytics with Cloud is a cloud-based intelligent maintenance system designed to predict equipment failures before they occur. </a:t>
            </a:r>
          </a:p>
          <a:p>
            <a:pPr marL="342900" indent="-342900" algn="just">
              <a:buFont typeface="Wingdings" panose="05000000000000000000" pitchFamily="2" charset="2"/>
              <a:buChar char="Ø"/>
            </a:pPr>
            <a:r>
              <a:rPr lang="en-US" sz="2000" dirty="0">
                <a:latin typeface="Times New Roman" panose="02020603050405020304" pitchFamily="18" charset="0"/>
                <a:ea typeface="Tahoma" panose="020B0604030504040204" pitchFamily="34" charset="0"/>
                <a:cs typeface="Times New Roman" panose="02020603050405020304" pitchFamily="18" charset="0"/>
              </a:rPr>
              <a:t>Traditional maintenance approaches are reactive, leading to unexpected downtime and high repair costs. This system integrates data analytics, machine learning, and cloud computing to monitor equipment health in real-time. </a:t>
            </a:r>
          </a:p>
          <a:p>
            <a:pPr marL="342900" indent="-342900" algn="just">
              <a:buFont typeface="Wingdings" panose="05000000000000000000" pitchFamily="2" charset="2"/>
              <a:buChar char="Ø"/>
            </a:pPr>
            <a:r>
              <a:rPr lang="en-US" sz="2000" dirty="0">
                <a:latin typeface="Times New Roman" panose="02020603050405020304" pitchFamily="18" charset="0"/>
                <a:ea typeface="Tahoma" panose="020B0604030504040204" pitchFamily="34" charset="0"/>
                <a:cs typeface="Times New Roman" panose="02020603050405020304" pitchFamily="18" charset="0"/>
              </a:rPr>
              <a:t>Motor data is processed and analyzed to detect patterns and anomalies. </a:t>
            </a:r>
          </a:p>
          <a:p>
            <a:pPr marL="342900" indent="-342900" algn="just">
              <a:buFont typeface="Wingdings" panose="05000000000000000000" pitchFamily="2" charset="2"/>
              <a:buChar char="Ø"/>
            </a:pPr>
            <a:r>
              <a:rPr lang="en-US" sz="2000" dirty="0">
                <a:latin typeface="Times New Roman" panose="02020603050405020304" pitchFamily="18" charset="0"/>
                <a:ea typeface="Tahoma" panose="020B0604030504040204" pitchFamily="34" charset="0"/>
                <a:cs typeface="Times New Roman" panose="02020603050405020304" pitchFamily="18" charset="0"/>
              </a:rPr>
              <a:t>The ML model predicts potential failures, enabling preventive maintenance. </a:t>
            </a:r>
          </a:p>
          <a:p>
            <a:pPr marL="342900" indent="-342900" algn="just">
              <a:buFont typeface="Wingdings" panose="05000000000000000000" pitchFamily="2" charset="2"/>
              <a:buChar char="Ø"/>
            </a:pPr>
            <a:r>
              <a:rPr lang="en-US" sz="2000" dirty="0">
                <a:latin typeface="Times New Roman" panose="02020603050405020304" pitchFamily="18" charset="0"/>
                <a:ea typeface="Tahoma" panose="020B0604030504040204" pitchFamily="34" charset="0"/>
                <a:cs typeface="Times New Roman" panose="02020603050405020304" pitchFamily="18" charset="0"/>
              </a:rPr>
              <a:t>The solution improves operational efficiency, reduces downtime, and enhances equipment lifespan.</a:t>
            </a:r>
          </a:p>
        </p:txBody>
      </p:sp>
    </p:spTree>
    <p:extLst>
      <p:ext uri="{BB962C8B-B14F-4D97-AF65-F5344CB8AC3E}">
        <p14:creationId xmlns:p14="http://schemas.microsoft.com/office/powerpoint/2010/main" val="3092872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657590-6701-F00D-6A01-F848739F61F0}"/>
              </a:ext>
            </a:extLst>
          </p:cNvPr>
          <p:cNvSpPr txBox="1"/>
          <p:nvPr/>
        </p:nvSpPr>
        <p:spPr>
          <a:xfrm>
            <a:off x="265471" y="196645"/>
            <a:ext cx="11661058" cy="523220"/>
          </a:xfrm>
          <a:prstGeom prst="rect">
            <a:avLst/>
          </a:prstGeom>
          <a:noFill/>
        </p:spPr>
        <p:txBody>
          <a:bodyPr wrap="square" rtlCol="0">
            <a:spAutoFit/>
          </a:bodyPr>
          <a:lstStyle/>
          <a:p>
            <a:r>
              <a:rPr lang="en-US" sz="2800" b="1" dirty="0"/>
              <a:t>Problem Statement </a:t>
            </a:r>
          </a:p>
        </p:txBody>
      </p:sp>
      <p:sp>
        <p:nvSpPr>
          <p:cNvPr id="3" name="TextBox 2">
            <a:extLst>
              <a:ext uri="{FF2B5EF4-FFF2-40B4-BE49-F238E27FC236}">
                <a16:creationId xmlns:a16="http://schemas.microsoft.com/office/drawing/2014/main" id="{7A88531B-8F38-D3C2-985F-88E10F40E1C1}"/>
              </a:ext>
            </a:extLst>
          </p:cNvPr>
          <p:cNvSpPr txBox="1"/>
          <p:nvPr/>
        </p:nvSpPr>
        <p:spPr>
          <a:xfrm>
            <a:off x="265471" y="792624"/>
            <a:ext cx="11661058" cy="3785652"/>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Industries rely heavily on reactive maintenance strategies, where equipment is repaired only after failure occurs. This leads to:</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Unexpected equipment failures cause production loss, downtime, and high maintenance costs in many industries.</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Traditional maintenance happens after equipment fails. This causes production </a:t>
            </a:r>
            <a:r>
              <a:rPr lang="en-US" sz="2000" dirty="0" err="1">
                <a:latin typeface="Times New Roman" panose="02020603050405020304" pitchFamily="18" charset="0"/>
                <a:cs typeface="Times New Roman" panose="02020603050405020304" pitchFamily="18" charset="0"/>
              </a:rPr>
              <a:t>loss,repair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cost,and</a:t>
            </a:r>
            <a:r>
              <a:rPr lang="en-US" sz="2000" dirty="0">
                <a:latin typeface="Times New Roman" panose="02020603050405020304" pitchFamily="18" charset="0"/>
                <a:cs typeface="Times New Roman" panose="02020603050405020304" pitchFamily="18" charset="0"/>
              </a:rPr>
              <a:t> safety risk.</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A smart system that uses analytics and cloud computing to continuously monitor equipment health and anticipate failures early is required.</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Without intelligent analytics, industries struggle to optimize maintenance planning, resource allocation, and spare part management.</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The absence of centralized cloud-based data storage limits historical data analysis and prevents data-driven maintenance decision-making.</a:t>
            </a:r>
          </a:p>
        </p:txBody>
      </p:sp>
      <p:sp>
        <p:nvSpPr>
          <p:cNvPr id="4" name="TextBox 3">
            <a:extLst>
              <a:ext uri="{FF2B5EF4-FFF2-40B4-BE49-F238E27FC236}">
                <a16:creationId xmlns:a16="http://schemas.microsoft.com/office/drawing/2014/main" id="{B89897FB-4374-03CD-17F5-C0776814129B}"/>
              </a:ext>
            </a:extLst>
          </p:cNvPr>
          <p:cNvSpPr txBox="1"/>
          <p:nvPr/>
        </p:nvSpPr>
        <p:spPr>
          <a:xfrm>
            <a:off x="265471" y="4807974"/>
            <a:ext cx="11661058" cy="1015663"/>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Solution:- There is a need for an intelligent cloud-based system that can predict equipment failures before they happen.</a:t>
            </a: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7095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2D124-6C74-A439-EEE3-91DB173C13E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0FB66D7-E44A-359E-D3F9-66A35AFC7EDE}"/>
              </a:ext>
            </a:extLst>
          </p:cNvPr>
          <p:cNvSpPr txBox="1"/>
          <p:nvPr/>
        </p:nvSpPr>
        <p:spPr>
          <a:xfrm>
            <a:off x="265471" y="196645"/>
            <a:ext cx="11661058" cy="523220"/>
          </a:xfrm>
          <a:prstGeom prst="rect">
            <a:avLst/>
          </a:prstGeom>
          <a:noFill/>
        </p:spPr>
        <p:txBody>
          <a:bodyPr wrap="square" rtlCol="0">
            <a:spAutoFit/>
          </a:bodyPr>
          <a:lstStyle/>
          <a:p>
            <a:r>
              <a:rPr lang="en-US" sz="2800" b="1" dirty="0"/>
              <a:t>Objectives</a:t>
            </a:r>
          </a:p>
        </p:txBody>
      </p:sp>
      <p:sp>
        <p:nvSpPr>
          <p:cNvPr id="3" name="TextBox 2">
            <a:extLst>
              <a:ext uri="{FF2B5EF4-FFF2-40B4-BE49-F238E27FC236}">
                <a16:creationId xmlns:a16="http://schemas.microsoft.com/office/drawing/2014/main" id="{E952F9B2-DD33-D195-ECD5-0FE67EDE3B16}"/>
              </a:ext>
            </a:extLst>
          </p:cNvPr>
          <p:cNvSpPr txBox="1"/>
          <p:nvPr/>
        </p:nvSpPr>
        <p:spPr>
          <a:xfrm>
            <a:off x="265471" y="792624"/>
            <a:ext cx="11661058" cy="4401205"/>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develop a cloud-based predictive maintenance system that enables continuous monitoring and intelligent analysis of equipment performance from any location.</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collect and process motor equipment data such as temperature, vibration, and load parameters to assess operational health accurately.</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apply Machine Learning algorithms for failure prediction in order to identify early warning signs and prevent unexpected equipment breakdowns.</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provide a real-time monitoring dashboard that visually represents equipment status, predictions, and historical trends for better decision-making.</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reduce downtime and maintenance costs by shifting from reactive maintenance to a proactive and predictive approach.</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securely store logs and system data ensuring data integrity, confidentiality, and easy retrieval for future analysis.</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analyze equipment data using advanced analytics models to extract meaningful insights and improve maintenance planning.</a:t>
            </a:r>
          </a:p>
        </p:txBody>
      </p:sp>
    </p:spTree>
    <p:extLst>
      <p:ext uri="{BB962C8B-B14F-4D97-AF65-F5344CB8AC3E}">
        <p14:creationId xmlns:p14="http://schemas.microsoft.com/office/powerpoint/2010/main" val="2962578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BBD08-118B-D808-84A6-480DFA35175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F8AEFDA-3744-BC67-062F-841E59E528C8}"/>
              </a:ext>
            </a:extLst>
          </p:cNvPr>
          <p:cNvSpPr txBox="1"/>
          <p:nvPr/>
        </p:nvSpPr>
        <p:spPr>
          <a:xfrm>
            <a:off x="265471" y="196645"/>
            <a:ext cx="11661058" cy="523220"/>
          </a:xfrm>
          <a:prstGeom prst="rect">
            <a:avLst/>
          </a:prstGeom>
          <a:noFill/>
        </p:spPr>
        <p:txBody>
          <a:bodyPr wrap="square" rtlCol="0">
            <a:spAutoFit/>
          </a:bodyPr>
          <a:lstStyle/>
          <a:p>
            <a:r>
              <a:rPr lang="en-US" sz="2800" b="1" dirty="0"/>
              <a:t>Scope</a:t>
            </a:r>
          </a:p>
        </p:txBody>
      </p:sp>
      <p:sp>
        <p:nvSpPr>
          <p:cNvPr id="3" name="TextBox 2">
            <a:extLst>
              <a:ext uri="{FF2B5EF4-FFF2-40B4-BE49-F238E27FC236}">
                <a16:creationId xmlns:a16="http://schemas.microsoft.com/office/drawing/2014/main" id="{0B0E6B92-D475-4F9C-7689-CFDB58CF5EA8}"/>
              </a:ext>
            </a:extLst>
          </p:cNvPr>
          <p:cNvSpPr txBox="1"/>
          <p:nvPr/>
        </p:nvSpPr>
        <p:spPr>
          <a:xfrm>
            <a:off x="265471" y="792624"/>
            <a:ext cx="11661058" cy="4401205"/>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Our idea will Help in:</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To track the condition of equipment in real time by continuously monitoring operational parameters such as temperature, vibration, and load.</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To predict equipment failures before they occur using data-driven models that analyze patterns and detect early warning signs.</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To enable remote monitoring through cloud integration, allowing users to access system data and predictions from any location.</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Applicable in manufacturing industries, where continuous machine operation and preventive maintenance are critical for productivity.</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Can be implemented in power plants and heavy machinery systems to monitor critical assets and reduce operational risks.</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Supports cloud deployment for scalability, enabling the system to handle increasing volumes of data and multiple equipment units efficiently.</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Can be extended with IoT integration, allowing direct connection with smart sensors and industrial devices.</a:t>
            </a:r>
          </a:p>
        </p:txBody>
      </p:sp>
    </p:spTree>
    <p:extLst>
      <p:ext uri="{BB962C8B-B14F-4D97-AF65-F5344CB8AC3E}">
        <p14:creationId xmlns:p14="http://schemas.microsoft.com/office/powerpoint/2010/main" val="2223534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CE408-454F-0B20-DB97-ABA11623DAE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EAE2732-D274-0068-88B3-6643BA113CD9}"/>
              </a:ext>
            </a:extLst>
          </p:cNvPr>
          <p:cNvSpPr txBox="1"/>
          <p:nvPr/>
        </p:nvSpPr>
        <p:spPr>
          <a:xfrm>
            <a:off x="265471" y="196645"/>
            <a:ext cx="11661058" cy="523220"/>
          </a:xfrm>
          <a:prstGeom prst="rect">
            <a:avLst/>
          </a:prstGeom>
          <a:noFill/>
        </p:spPr>
        <p:txBody>
          <a:bodyPr wrap="square" rtlCol="0">
            <a:spAutoFit/>
          </a:bodyPr>
          <a:lstStyle/>
          <a:p>
            <a:r>
              <a:rPr lang="en-US" sz="2800" b="1" dirty="0"/>
              <a:t>System Architecture </a:t>
            </a:r>
          </a:p>
        </p:txBody>
      </p:sp>
      <p:pic>
        <p:nvPicPr>
          <p:cNvPr id="6" name="Picture 5">
            <a:extLst>
              <a:ext uri="{FF2B5EF4-FFF2-40B4-BE49-F238E27FC236}">
                <a16:creationId xmlns:a16="http://schemas.microsoft.com/office/drawing/2014/main" id="{348B53B9-34E4-B83D-1F26-744EDE5B6D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490" y="1041470"/>
            <a:ext cx="12103509" cy="5693627"/>
          </a:xfrm>
          <a:prstGeom prst="rect">
            <a:avLst/>
          </a:prstGeom>
        </p:spPr>
      </p:pic>
    </p:spTree>
    <p:extLst>
      <p:ext uri="{BB962C8B-B14F-4D97-AF65-F5344CB8AC3E}">
        <p14:creationId xmlns:p14="http://schemas.microsoft.com/office/powerpoint/2010/main" val="2289485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0EBB8-2C16-F9AF-DC28-A92064C0BA7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35DC7D-8465-FFE9-C68C-B7E2740F495F}"/>
              </a:ext>
            </a:extLst>
          </p:cNvPr>
          <p:cNvSpPr txBox="1"/>
          <p:nvPr/>
        </p:nvSpPr>
        <p:spPr>
          <a:xfrm>
            <a:off x="265471" y="196645"/>
            <a:ext cx="11661058" cy="523220"/>
          </a:xfrm>
          <a:prstGeom prst="rect">
            <a:avLst/>
          </a:prstGeom>
          <a:noFill/>
        </p:spPr>
        <p:txBody>
          <a:bodyPr wrap="square" rtlCol="0">
            <a:spAutoFit/>
          </a:bodyPr>
          <a:lstStyle/>
          <a:p>
            <a:r>
              <a:rPr lang="en-US" sz="2800" b="1" dirty="0"/>
              <a:t>Workflow Of Project</a:t>
            </a:r>
          </a:p>
        </p:txBody>
      </p:sp>
      <p:pic>
        <p:nvPicPr>
          <p:cNvPr id="4" name="Picture 3">
            <a:extLst>
              <a:ext uri="{FF2B5EF4-FFF2-40B4-BE49-F238E27FC236}">
                <a16:creationId xmlns:a16="http://schemas.microsoft.com/office/drawing/2014/main" id="{090E7055-FCA7-5ABF-866C-142FB6354318}"/>
              </a:ext>
            </a:extLst>
          </p:cNvPr>
          <p:cNvPicPr>
            <a:picLocks noChangeAspect="1"/>
          </p:cNvPicPr>
          <p:nvPr/>
        </p:nvPicPr>
        <p:blipFill>
          <a:blip r:embed="rId3">
            <a:extLst>
              <a:ext uri="{28A0092B-C50C-407E-A947-70E740481C1C}">
                <a14:useLocalDpi xmlns:a14="http://schemas.microsoft.com/office/drawing/2010/main" val="0"/>
              </a:ext>
            </a:extLst>
          </a:blip>
          <a:srcRect l="11586" t="3324" r="-108" b="29625"/>
          <a:stretch>
            <a:fillRect/>
          </a:stretch>
        </p:blipFill>
        <p:spPr>
          <a:xfrm>
            <a:off x="875071" y="1120878"/>
            <a:ext cx="10441858" cy="3726426"/>
          </a:xfrm>
          <a:prstGeom prst="rect">
            <a:avLst/>
          </a:prstGeom>
        </p:spPr>
      </p:pic>
    </p:spTree>
    <p:extLst>
      <p:ext uri="{BB962C8B-B14F-4D97-AF65-F5344CB8AC3E}">
        <p14:creationId xmlns:p14="http://schemas.microsoft.com/office/powerpoint/2010/main" val="704875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EB1FF-0DEE-8E69-16D6-27C30FC7E24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7D3DFF1-6C8E-4E00-38A6-15526C8A1849}"/>
              </a:ext>
            </a:extLst>
          </p:cNvPr>
          <p:cNvSpPr txBox="1"/>
          <p:nvPr/>
        </p:nvSpPr>
        <p:spPr>
          <a:xfrm>
            <a:off x="265471" y="196645"/>
            <a:ext cx="11661058" cy="523220"/>
          </a:xfrm>
          <a:prstGeom prst="rect">
            <a:avLst/>
          </a:prstGeom>
          <a:noFill/>
        </p:spPr>
        <p:txBody>
          <a:bodyPr wrap="square" rtlCol="0">
            <a:spAutoFit/>
          </a:bodyPr>
          <a:lstStyle/>
          <a:p>
            <a:r>
              <a:rPr lang="en-US" sz="2800" b="1" dirty="0"/>
              <a:t>Technology Stack</a:t>
            </a:r>
          </a:p>
        </p:txBody>
      </p:sp>
      <p:sp>
        <p:nvSpPr>
          <p:cNvPr id="3" name="TextBox 2">
            <a:extLst>
              <a:ext uri="{FF2B5EF4-FFF2-40B4-BE49-F238E27FC236}">
                <a16:creationId xmlns:a16="http://schemas.microsoft.com/office/drawing/2014/main" id="{2A5B6ED7-B1C6-1D1F-0557-5F2E56CBFCB9}"/>
              </a:ext>
            </a:extLst>
          </p:cNvPr>
          <p:cNvSpPr txBox="1"/>
          <p:nvPr/>
        </p:nvSpPr>
        <p:spPr>
          <a:xfrm>
            <a:off x="265471" y="792624"/>
            <a:ext cx="11661058" cy="5632311"/>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Programming Language</a:t>
            </a:r>
          </a:p>
          <a:p>
            <a:pPr marL="342900" indent="-342900">
              <a:buFont typeface="Wingdings" panose="05000000000000000000" pitchFamily="2" charset="2"/>
              <a:buChar char="ü"/>
            </a:pPr>
            <a:r>
              <a:rPr lang="en-US" sz="2000" dirty="0"/>
              <a:t>Python 3.9+</a:t>
            </a:r>
          </a:p>
          <a:p>
            <a:pPr marL="342900" indent="-342900">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Backend Development</a:t>
            </a: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Flask (Web Framework)</a:t>
            </a: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Flask-CORS</a:t>
            </a:r>
          </a:p>
          <a:p>
            <a:pPr marL="342900" indent="-342900">
              <a:buFont typeface="Wingdings" panose="05000000000000000000" pitchFamily="2" charset="2"/>
              <a:buChar char="ü"/>
            </a:pPr>
            <a:r>
              <a:rPr lang="en-US" sz="2000" dirty="0" err="1">
                <a:latin typeface="Times New Roman" panose="02020603050405020304" pitchFamily="18" charset="0"/>
                <a:cs typeface="Times New Roman" panose="02020603050405020304" pitchFamily="18" charset="0"/>
              </a:rPr>
              <a:t>dotenv</a:t>
            </a:r>
            <a:r>
              <a:rPr lang="en-US" sz="2000" dirty="0">
                <a:latin typeface="Times New Roman" panose="02020603050405020304" pitchFamily="18" charset="0"/>
                <a:cs typeface="Times New Roman" panose="02020603050405020304" pitchFamily="18" charset="0"/>
              </a:rPr>
              <a:t> (Environment variable management)</a:t>
            </a:r>
          </a:p>
          <a:p>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Machine Learning &amp; Deep Learning</a:t>
            </a: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TensorFlow</a:t>
            </a:r>
          </a:p>
          <a:p>
            <a:pPr marL="342900" indent="-342900">
              <a:buFont typeface="Wingdings" panose="05000000000000000000" pitchFamily="2" charset="2"/>
              <a:buChar char="ü"/>
            </a:pPr>
            <a:r>
              <a:rPr lang="en-US" sz="2000" dirty="0" err="1">
                <a:latin typeface="Times New Roman" panose="02020603050405020304" pitchFamily="18" charset="0"/>
                <a:cs typeface="Times New Roman" panose="02020603050405020304" pitchFamily="18" charset="0"/>
              </a:rPr>
              <a:t>KerasLSTM</a:t>
            </a:r>
            <a:r>
              <a:rPr lang="en-US" sz="2000" dirty="0">
                <a:latin typeface="Times New Roman" panose="02020603050405020304" pitchFamily="18" charset="0"/>
                <a:cs typeface="Times New Roman" panose="02020603050405020304" pitchFamily="18" charset="0"/>
              </a:rPr>
              <a:t> (Long Short-Term Memory Neural Network)</a:t>
            </a: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Scikit-learn</a:t>
            </a: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SMOTE (for class imbalance handling)</a:t>
            </a:r>
          </a:p>
          <a:p>
            <a:pPr marL="342900" indent="-342900">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Data Processing &amp; Analysis</a:t>
            </a: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Pandas</a:t>
            </a: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NumPy</a:t>
            </a:r>
          </a:p>
          <a:p>
            <a:pPr marL="342900" indent="-342900">
              <a:buFont typeface="Wingdings" panose="05000000000000000000" pitchFamily="2" charset="2"/>
              <a:buChar char="ü"/>
            </a:pPr>
            <a:r>
              <a:rPr lang="en-US" sz="2000" dirty="0" err="1">
                <a:latin typeface="Times New Roman" panose="02020603050405020304" pitchFamily="18" charset="0"/>
                <a:cs typeface="Times New Roman" panose="02020603050405020304" pitchFamily="18" charset="0"/>
              </a:rPr>
              <a:t>Jupyter</a:t>
            </a:r>
            <a:r>
              <a:rPr lang="en-US" sz="2000" dirty="0">
                <a:latin typeface="Times New Roman" panose="02020603050405020304" pitchFamily="18" charset="0"/>
                <a:cs typeface="Times New Roman" panose="02020603050405020304" pitchFamily="18" charset="0"/>
              </a:rPr>
              <a:t> Notebook</a:t>
            </a:r>
          </a:p>
        </p:txBody>
      </p:sp>
    </p:spTree>
    <p:extLst>
      <p:ext uri="{BB962C8B-B14F-4D97-AF65-F5344CB8AC3E}">
        <p14:creationId xmlns:p14="http://schemas.microsoft.com/office/powerpoint/2010/main" val="22329113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DE268-9F6D-A81F-5378-7FA45AA68F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D53F026-F5DB-DDE2-43F2-F834CBE92A42}"/>
              </a:ext>
            </a:extLst>
          </p:cNvPr>
          <p:cNvSpPr txBox="1"/>
          <p:nvPr/>
        </p:nvSpPr>
        <p:spPr>
          <a:xfrm>
            <a:off x="265471" y="196645"/>
            <a:ext cx="11661058" cy="523220"/>
          </a:xfrm>
          <a:prstGeom prst="rect">
            <a:avLst/>
          </a:prstGeom>
          <a:noFill/>
        </p:spPr>
        <p:txBody>
          <a:bodyPr wrap="square" rtlCol="0">
            <a:spAutoFit/>
          </a:bodyPr>
          <a:lstStyle/>
          <a:p>
            <a:r>
              <a:rPr lang="en-US" sz="2800" b="1" dirty="0"/>
              <a:t>Technology Stack</a:t>
            </a:r>
          </a:p>
        </p:txBody>
      </p:sp>
      <p:sp>
        <p:nvSpPr>
          <p:cNvPr id="3" name="TextBox 2">
            <a:extLst>
              <a:ext uri="{FF2B5EF4-FFF2-40B4-BE49-F238E27FC236}">
                <a16:creationId xmlns:a16="http://schemas.microsoft.com/office/drawing/2014/main" id="{565F52EF-E9A8-F732-260A-5D982A1CF5E3}"/>
              </a:ext>
            </a:extLst>
          </p:cNvPr>
          <p:cNvSpPr txBox="1"/>
          <p:nvPr/>
        </p:nvSpPr>
        <p:spPr>
          <a:xfrm>
            <a:off x="265470" y="2445831"/>
            <a:ext cx="11661058" cy="4708981"/>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latin typeface="Times New Roman" panose="02020603050405020304" pitchFamily="18" charset="0"/>
                <a:ea typeface="Tahoma" panose="020B0604030504040204" pitchFamily="34" charset="0"/>
                <a:cs typeface="Times New Roman" panose="02020603050405020304" pitchFamily="18" charset="0"/>
              </a:rPr>
              <a:t>Frontend Development</a:t>
            </a:r>
          </a:p>
          <a:p>
            <a:pPr marL="342900" indent="-342900">
              <a:buFont typeface="Wingdings" panose="05000000000000000000" pitchFamily="2" charset="2"/>
              <a:buChar char="ü"/>
            </a:pPr>
            <a:r>
              <a:rPr lang="en-US" sz="2000" dirty="0">
                <a:latin typeface="Times New Roman" panose="02020603050405020304" pitchFamily="18" charset="0"/>
                <a:ea typeface="Tahoma" panose="020B0604030504040204" pitchFamily="34" charset="0"/>
                <a:cs typeface="Times New Roman" panose="02020603050405020304" pitchFamily="18" charset="0"/>
              </a:rPr>
              <a:t>HTML</a:t>
            </a:r>
          </a:p>
          <a:p>
            <a:pPr marL="342900" indent="-342900">
              <a:buFont typeface="Wingdings" panose="05000000000000000000" pitchFamily="2" charset="2"/>
              <a:buChar char="ü"/>
            </a:pPr>
            <a:r>
              <a:rPr lang="en-US" sz="2000" dirty="0">
                <a:latin typeface="Times New Roman" panose="02020603050405020304" pitchFamily="18" charset="0"/>
                <a:ea typeface="Tahoma" panose="020B0604030504040204" pitchFamily="34" charset="0"/>
                <a:cs typeface="Times New Roman" panose="02020603050405020304" pitchFamily="18" charset="0"/>
              </a:rPr>
              <a:t>CSS</a:t>
            </a:r>
          </a:p>
          <a:p>
            <a:pPr marL="342900" indent="-342900">
              <a:buFont typeface="Wingdings" panose="05000000000000000000" pitchFamily="2" charset="2"/>
              <a:buChar char="ü"/>
            </a:pPr>
            <a:r>
              <a:rPr lang="en-US" sz="2000" dirty="0" err="1">
                <a:latin typeface="Times New Roman" panose="02020603050405020304" pitchFamily="18" charset="0"/>
                <a:ea typeface="Tahoma" panose="020B0604030504040204" pitchFamily="34" charset="0"/>
                <a:cs typeface="Times New Roman" panose="02020603050405020304" pitchFamily="18" charset="0"/>
              </a:rPr>
              <a:t>Javascript</a:t>
            </a: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a:p>
            <a:endParaRPr lang="en-US" sz="2000" dirty="0">
              <a:latin typeface="Times New Roman" panose="02020603050405020304" pitchFamily="18" charset="0"/>
              <a:ea typeface="Tahoma" panose="020B0604030504040204" pitchFamily="34"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ea typeface="Tahoma" panose="020B0604030504040204" pitchFamily="34" charset="0"/>
                <a:cs typeface="Times New Roman" panose="02020603050405020304" pitchFamily="18" charset="0"/>
              </a:rPr>
              <a:t>Visualization</a:t>
            </a:r>
          </a:p>
          <a:p>
            <a:pPr marL="342900" indent="-342900">
              <a:buFont typeface="Wingdings" panose="05000000000000000000" pitchFamily="2" charset="2"/>
              <a:buChar char="ü"/>
            </a:pPr>
            <a:r>
              <a:rPr lang="en-US" sz="2000" dirty="0">
                <a:latin typeface="Times New Roman" panose="02020603050405020304" pitchFamily="18" charset="0"/>
                <a:ea typeface="Tahoma" panose="020B0604030504040204" pitchFamily="34" charset="0"/>
                <a:cs typeface="Times New Roman" panose="02020603050405020304" pitchFamily="18" charset="0"/>
              </a:rPr>
              <a:t>Tableau Public</a:t>
            </a:r>
          </a:p>
          <a:p>
            <a:endParaRPr lang="en-US" sz="2000" dirty="0">
              <a:latin typeface="Times New Roman" panose="02020603050405020304" pitchFamily="18" charset="0"/>
              <a:ea typeface="Tahoma" panose="020B0604030504040204" pitchFamily="34"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ea typeface="Tahoma" panose="020B0604030504040204" pitchFamily="34" charset="0"/>
                <a:cs typeface="Times New Roman" panose="02020603050405020304" pitchFamily="18" charset="0"/>
              </a:rPr>
              <a:t>Version Control</a:t>
            </a:r>
          </a:p>
          <a:p>
            <a:pPr marL="342900" indent="-342900">
              <a:buFont typeface="Wingdings" panose="05000000000000000000" pitchFamily="2" charset="2"/>
              <a:buChar char="ü"/>
            </a:pPr>
            <a:r>
              <a:rPr lang="en-US" sz="2000" dirty="0">
                <a:latin typeface="Times New Roman" panose="02020603050405020304" pitchFamily="18" charset="0"/>
                <a:ea typeface="Tahoma" panose="020B0604030504040204" pitchFamily="34" charset="0"/>
                <a:cs typeface="Times New Roman" panose="02020603050405020304" pitchFamily="18" charset="0"/>
              </a:rPr>
              <a:t>Git</a:t>
            </a:r>
          </a:p>
          <a:p>
            <a:endParaRPr lang="en-US" sz="2000" dirty="0">
              <a:latin typeface="Times New Roman" panose="02020603050405020304" pitchFamily="18" charset="0"/>
              <a:ea typeface="Tahoma" panose="020B0604030504040204" pitchFamily="34"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ea typeface="Tahoma" panose="020B0604030504040204" pitchFamily="34" charset="0"/>
                <a:cs typeface="Times New Roman" panose="02020603050405020304" pitchFamily="18" charset="0"/>
              </a:rPr>
              <a:t>Development Tools</a:t>
            </a:r>
          </a:p>
          <a:p>
            <a:pPr marL="342900" indent="-342900">
              <a:buFont typeface="Wingdings" panose="05000000000000000000" pitchFamily="2" charset="2"/>
              <a:buChar char="ü"/>
            </a:pPr>
            <a:r>
              <a:rPr lang="en-US" sz="2000" dirty="0">
                <a:latin typeface="Times New Roman" panose="02020603050405020304" pitchFamily="18" charset="0"/>
                <a:ea typeface="Tahoma" panose="020B0604030504040204" pitchFamily="34" charset="0"/>
                <a:cs typeface="Times New Roman" panose="02020603050405020304" pitchFamily="18" charset="0"/>
              </a:rPr>
              <a:t>VS Code</a:t>
            </a:r>
          </a:p>
          <a:p>
            <a:pPr marL="342900" indent="-342900">
              <a:buFont typeface="Wingdings" panose="05000000000000000000" pitchFamily="2" charset="2"/>
              <a:buChar char="ü"/>
            </a:pPr>
            <a:r>
              <a:rPr lang="en-US" sz="2000" dirty="0" err="1">
                <a:latin typeface="Times New Roman" panose="02020603050405020304" pitchFamily="18" charset="0"/>
                <a:ea typeface="Tahoma" panose="020B0604030504040204" pitchFamily="34" charset="0"/>
                <a:cs typeface="Times New Roman" panose="02020603050405020304" pitchFamily="18" charset="0"/>
              </a:rPr>
              <a:t>Jupyter</a:t>
            </a:r>
            <a:r>
              <a:rPr lang="en-US" sz="2000" dirty="0">
                <a:latin typeface="Times New Roman" panose="02020603050405020304" pitchFamily="18" charset="0"/>
                <a:ea typeface="Tahoma" panose="020B0604030504040204" pitchFamily="34" charset="0"/>
                <a:cs typeface="Times New Roman" panose="02020603050405020304" pitchFamily="18" charset="0"/>
              </a:rPr>
              <a:t> Notebook</a:t>
            </a:r>
          </a:p>
          <a:p>
            <a:pPr marL="342900" indent="-342900">
              <a:buFont typeface="Wingdings" panose="05000000000000000000" pitchFamily="2" charset="2"/>
              <a:buChar char="Ø"/>
            </a:pP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0375B4EA-9D8E-1A99-132E-87A8629B9F85}"/>
              </a:ext>
            </a:extLst>
          </p:cNvPr>
          <p:cNvSpPr txBox="1"/>
          <p:nvPr/>
        </p:nvSpPr>
        <p:spPr>
          <a:xfrm>
            <a:off x="265470" y="815048"/>
            <a:ext cx="11661058" cy="707886"/>
          </a:xfrm>
          <a:prstGeom prst="rect">
            <a:avLst/>
          </a:prstGeom>
          <a:noFill/>
        </p:spPr>
        <p:txBody>
          <a:bodyPr wrap="square" rtlCol="0">
            <a:spAutoFit/>
          </a:bodyPr>
          <a:lstStyle/>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Cloud &amp; Database</a:t>
            </a:r>
          </a:p>
          <a:p>
            <a:pPr marL="342900" indent="-342900">
              <a:buFont typeface="Wingdings" panose="05000000000000000000" pitchFamily="2" charset="2"/>
              <a:buChar char="ü"/>
            </a:pPr>
            <a:r>
              <a:rPr lang="en-US" sz="2000" dirty="0" err="1">
                <a:latin typeface="Times New Roman" panose="02020603050405020304" pitchFamily="18" charset="0"/>
                <a:cs typeface="Times New Roman" panose="02020603050405020304" pitchFamily="18" charset="0"/>
              </a:rPr>
              <a:t>Supabase</a:t>
            </a:r>
            <a:endParaRPr lang="en-US"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276B693-3FB5-31F7-B40B-15F91AF78375}"/>
              </a:ext>
            </a:extLst>
          </p:cNvPr>
          <p:cNvSpPr txBox="1"/>
          <p:nvPr/>
        </p:nvSpPr>
        <p:spPr>
          <a:xfrm>
            <a:off x="648929" y="1434444"/>
            <a:ext cx="11277599" cy="923330"/>
          </a:xfrm>
          <a:prstGeom prst="rect">
            <a:avLst/>
          </a:prstGeom>
          <a:noFill/>
        </p:spPr>
        <p:txBody>
          <a:bodyPr wrap="square" rtlCol="0">
            <a:spAutoFit/>
          </a:bodyPr>
          <a:lstStyle/>
          <a:p>
            <a:pPr marL="28575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Supabase</a:t>
            </a:r>
            <a:r>
              <a:rPr lang="en-US" dirty="0">
                <a:latin typeface="Times New Roman" panose="02020603050405020304" pitchFamily="18" charset="0"/>
                <a:cs typeface="Times New Roman" panose="02020603050405020304" pitchFamily="18" charset="0"/>
              </a:rPr>
              <a:t> PostgreSQL (Database)</a:t>
            </a:r>
          </a:p>
          <a:p>
            <a:pPr marL="28575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Supabase</a:t>
            </a:r>
            <a:r>
              <a:rPr lang="en-US" dirty="0">
                <a:latin typeface="Times New Roman" panose="02020603050405020304" pitchFamily="18" charset="0"/>
                <a:cs typeface="Times New Roman" panose="02020603050405020304" pitchFamily="18" charset="0"/>
              </a:rPr>
              <a:t> Storage (Cloud Storage)</a:t>
            </a:r>
          </a:p>
          <a:p>
            <a:pPr marL="28575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Supabase</a:t>
            </a:r>
            <a:r>
              <a:rPr lang="en-US" dirty="0">
                <a:latin typeface="Times New Roman" panose="02020603050405020304" pitchFamily="18" charset="0"/>
                <a:cs typeface="Times New Roman" panose="02020603050405020304" pitchFamily="18" charset="0"/>
              </a:rPr>
              <a:t> Auth (Authentication)</a:t>
            </a:r>
          </a:p>
        </p:txBody>
      </p:sp>
    </p:spTree>
    <p:extLst>
      <p:ext uri="{BB962C8B-B14F-4D97-AF65-F5344CB8AC3E}">
        <p14:creationId xmlns:p14="http://schemas.microsoft.com/office/powerpoint/2010/main" val="3005237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3F5B6-0A81-ED91-3840-230D805A764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46E4168-7AB3-32F7-B0A5-8167AA6C64EA}"/>
              </a:ext>
            </a:extLst>
          </p:cNvPr>
          <p:cNvSpPr txBox="1"/>
          <p:nvPr/>
        </p:nvSpPr>
        <p:spPr>
          <a:xfrm>
            <a:off x="265471" y="196645"/>
            <a:ext cx="11661058" cy="523220"/>
          </a:xfrm>
          <a:prstGeom prst="rect">
            <a:avLst/>
          </a:prstGeom>
          <a:noFill/>
        </p:spPr>
        <p:txBody>
          <a:bodyPr wrap="square" rtlCol="0">
            <a:spAutoFit/>
          </a:bodyPr>
          <a:lstStyle/>
          <a:p>
            <a:r>
              <a:rPr lang="en-US" sz="2800" b="1" dirty="0"/>
              <a:t>Module Description</a:t>
            </a:r>
          </a:p>
        </p:txBody>
      </p:sp>
      <p:sp>
        <p:nvSpPr>
          <p:cNvPr id="3" name="TextBox 2">
            <a:extLst>
              <a:ext uri="{FF2B5EF4-FFF2-40B4-BE49-F238E27FC236}">
                <a16:creationId xmlns:a16="http://schemas.microsoft.com/office/drawing/2014/main" id="{9104D0BD-B23E-C3EE-D4E1-251A8B5A6A05}"/>
              </a:ext>
            </a:extLst>
          </p:cNvPr>
          <p:cNvSpPr txBox="1"/>
          <p:nvPr/>
        </p:nvSpPr>
        <p:spPr>
          <a:xfrm>
            <a:off x="265471" y="792624"/>
            <a:ext cx="11661058" cy="6247864"/>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Data Generation Module</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Collects and manages motor sensor data such as temperature, vibration, current, and load, either from cloud storage or simulated CSV datasets.</a:t>
            </a: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Data Processing Module</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Cleans, normalizes, and prepares raw sensor data through preprocessing and feature engineering for accurate model training.</a:t>
            </a:r>
          </a:p>
          <a:p>
            <a:pPr marL="342900" indent="-34290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Prediction Module</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Uses the trained LSTM machine learning model to analyze time-series data and predict equipment failure probability.</a:t>
            </a:r>
          </a:p>
          <a:p>
            <a:pPr marL="342900" indent="-34290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Dashboard Module</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Displays real-time equipment status, prediction results, and historical trends through an interactive web-based interface.</a:t>
            </a:r>
          </a:p>
          <a:p>
            <a:pPr marL="342900" indent="-34290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Authentication Module</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Handles secure user login, role-based access control, and logging of user activities using cloud-based authentication services.</a:t>
            </a: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38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CF9CA-5514-810C-9EF3-2C443E56CD8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D992605-F47C-F551-8C5B-54AD1C5D71FF}"/>
              </a:ext>
            </a:extLst>
          </p:cNvPr>
          <p:cNvSpPr txBox="1"/>
          <p:nvPr/>
        </p:nvSpPr>
        <p:spPr>
          <a:xfrm>
            <a:off x="265471" y="196645"/>
            <a:ext cx="11661058" cy="523220"/>
          </a:xfrm>
          <a:prstGeom prst="rect">
            <a:avLst/>
          </a:prstGeom>
          <a:noFill/>
        </p:spPr>
        <p:txBody>
          <a:bodyPr wrap="square" rtlCol="0">
            <a:spAutoFit/>
          </a:bodyPr>
          <a:lstStyle/>
          <a:p>
            <a:r>
              <a:rPr lang="en-US" sz="2800" b="1" dirty="0"/>
              <a:t>Advantages</a:t>
            </a:r>
          </a:p>
        </p:txBody>
      </p:sp>
      <p:sp>
        <p:nvSpPr>
          <p:cNvPr id="3" name="TextBox 2">
            <a:extLst>
              <a:ext uri="{FF2B5EF4-FFF2-40B4-BE49-F238E27FC236}">
                <a16:creationId xmlns:a16="http://schemas.microsoft.com/office/drawing/2014/main" id="{2BB9DEDD-EB2E-CCF1-948E-CB7AA078FCFF}"/>
              </a:ext>
            </a:extLst>
          </p:cNvPr>
          <p:cNvSpPr txBox="1"/>
          <p:nvPr/>
        </p:nvSpPr>
        <p:spPr>
          <a:xfrm>
            <a:off x="265471" y="792624"/>
            <a:ext cx="11661058" cy="4093428"/>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Reduces unexpected breakdowns by predicting potential failures in advance and enabling timely preventive maintenance actions.</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Minimizes maintenance costs by shifting from reactive repairs to planned maintenance based on equipment condition.</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Increases equipment lifespan through continuous monitoring and early detection of performance degradation.</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Provides real-time monitoring of equipment health parameters for faster decision-making and operational control.</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Ensures cloud scalability, allowing the system to handle increasing data volume and multiple equipment units efficiently.</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Offers secure data storage with authentication and controlled access to protect sensitive operational information.</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Improves overall operational efficiency by optimizing maintenance scheduling and reducing production downtime.</a:t>
            </a:r>
          </a:p>
        </p:txBody>
      </p:sp>
    </p:spTree>
    <p:extLst>
      <p:ext uri="{BB962C8B-B14F-4D97-AF65-F5344CB8AC3E}">
        <p14:creationId xmlns:p14="http://schemas.microsoft.com/office/powerpoint/2010/main" val="12342583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3BBA8-B8D0-5172-4DAB-38AE30A4FE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CD2427E-4EC1-15BA-8FE3-864B77F1F6D4}"/>
              </a:ext>
            </a:extLst>
          </p:cNvPr>
          <p:cNvSpPr txBox="1"/>
          <p:nvPr/>
        </p:nvSpPr>
        <p:spPr>
          <a:xfrm>
            <a:off x="265471" y="196645"/>
            <a:ext cx="11661058" cy="523220"/>
          </a:xfrm>
          <a:prstGeom prst="rect">
            <a:avLst/>
          </a:prstGeom>
          <a:noFill/>
        </p:spPr>
        <p:txBody>
          <a:bodyPr wrap="square" rtlCol="0">
            <a:spAutoFit/>
          </a:bodyPr>
          <a:lstStyle/>
          <a:p>
            <a:r>
              <a:rPr lang="en-US" sz="2800" b="1" dirty="0"/>
              <a:t>Limitations</a:t>
            </a:r>
          </a:p>
        </p:txBody>
      </p:sp>
      <p:sp>
        <p:nvSpPr>
          <p:cNvPr id="3" name="TextBox 2">
            <a:extLst>
              <a:ext uri="{FF2B5EF4-FFF2-40B4-BE49-F238E27FC236}">
                <a16:creationId xmlns:a16="http://schemas.microsoft.com/office/drawing/2014/main" id="{C2F5C7FC-FABD-3E47-2198-3CAB2FE629EC}"/>
              </a:ext>
            </a:extLst>
          </p:cNvPr>
          <p:cNvSpPr txBox="1"/>
          <p:nvPr/>
        </p:nvSpPr>
        <p:spPr>
          <a:xfrm>
            <a:off x="265471" y="792624"/>
            <a:ext cx="11661058" cy="3170099"/>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Requires accurate historical data to train the machine learning model effectively and ensure reliable failure predictions.</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Initial setup cost is high, as it involves cloud infrastructure configuration, system development, and model training.</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Model accuracy depends on training data quality, and poor or imbalanced data can reduce prediction performance.</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Requires stable internet connectivity for continuous cloud access, real-time monitoring, and data synchronization.</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Needs periodic model retraining to adapt to new failure patterns, changing equipment behavior, and updated operational conditions.</a:t>
            </a:r>
          </a:p>
        </p:txBody>
      </p:sp>
    </p:spTree>
    <p:extLst>
      <p:ext uri="{BB962C8B-B14F-4D97-AF65-F5344CB8AC3E}">
        <p14:creationId xmlns:p14="http://schemas.microsoft.com/office/powerpoint/2010/main" val="22828876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6D6C7-B3A5-11E1-4236-039746EDE8F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BB59113-A7F0-50AA-9CEE-BF22A6A13FAE}"/>
              </a:ext>
            </a:extLst>
          </p:cNvPr>
          <p:cNvSpPr txBox="1"/>
          <p:nvPr/>
        </p:nvSpPr>
        <p:spPr>
          <a:xfrm>
            <a:off x="265471" y="196645"/>
            <a:ext cx="11661058" cy="523220"/>
          </a:xfrm>
          <a:prstGeom prst="rect">
            <a:avLst/>
          </a:prstGeom>
          <a:noFill/>
        </p:spPr>
        <p:txBody>
          <a:bodyPr wrap="square" rtlCol="0">
            <a:spAutoFit/>
          </a:bodyPr>
          <a:lstStyle/>
          <a:p>
            <a:r>
              <a:rPr lang="en-US" sz="2800" b="1" dirty="0"/>
              <a:t>Conclusions</a:t>
            </a:r>
          </a:p>
        </p:txBody>
      </p:sp>
      <p:sp>
        <p:nvSpPr>
          <p:cNvPr id="3" name="TextBox 2">
            <a:extLst>
              <a:ext uri="{FF2B5EF4-FFF2-40B4-BE49-F238E27FC236}">
                <a16:creationId xmlns:a16="http://schemas.microsoft.com/office/drawing/2014/main" id="{1745D2C3-CF35-4491-5653-CA91001EC5D2}"/>
              </a:ext>
            </a:extLst>
          </p:cNvPr>
          <p:cNvSpPr txBox="1"/>
          <p:nvPr/>
        </p:nvSpPr>
        <p:spPr>
          <a:xfrm>
            <a:off x="265471" y="792624"/>
            <a:ext cx="11661058" cy="3170099"/>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Proactive Equipment Care system presents an intelligent and scalable approach to predictive maintenance by integrating cloud computing, data analytics, and deep learning technologies. By continuously collecting and analyzing equipment data, the system enables early detection of potential failures and supports proactive maintenance planning. The implementation of an LSTM-based model enhances prediction accuracy, allowing industries to receive alerts 24–48 hours before possible breakdowns.</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Overall, this project successfully demonstrates how cloud-integrated analytics can transform traditional reactive maintenance into a data-driven, predictive maintenance strategy. By reducing downtime, lowering maintenance costs, and improving equipment reliability, the system contributes to increased productivity, operational efficiency, and long-term industrial sustainability.</a:t>
            </a:r>
          </a:p>
          <a:p>
            <a:pPr marL="342900" indent="-34290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2433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E5E8E-A72F-34B6-59E1-F63AEE28DBE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85607D7-69BF-BC18-CB1B-DCFAD0B81110}"/>
              </a:ext>
            </a:extLst>
          </p:cNvPr>
          <p:cNvSpPr txBox="1"/>
          <p:nvPr/>
        </p:nvSpPr>
        <p:spPr>
          <a:xfrm>
            <a:off x="265471" y="196645"/>
            <a:ext cx="11661058" cy="523220"/>
          </a:xfrm>
          <a:prstGeom prst="rect">
            <a:avLst/>
          </a:prstGeom>
          <a:noFill/>
        </p:spPr>
        <p:txBody>
          <a:bodyPr wrap="square" rtlCol="0">
            <a:spAutoFit/>
          </a:bodyPr>
          <a:lstStyle/>
          <a:p>
            <a:r>
              <a:rPr lang="en-US" sz="2800" b="1" dirty="0"/>
              <a:t>References </a:t>
            </a:r>
          </a:p>
        </p:txBody>
      </p:sp>
      <p:sp>
        <p:nvSpPr>
          <p:cNvPr id="3" name="TextBox 2">
            <a:extLst>
              <a:ext uri="{FF2B5EF4-FFF2-40B4-BE49-F238E27FC236}">
                <a16:creationId xmlns:a16="http://schemas.microsoft.com/office/drawing/2014/main" id="{82B85E94-AD04-7A66-ED75-5CAFAB042E8E}"/>
              </a:ext>
            </a:extLst>
          </p:cNvPr>
          <p:cNvSpPr txBox="1"/>
          <p:nvPr/>
        </p:nvSpPr>
        <p:spPr>
          <a:xfrm>
            <a:off x="265471" y="792624"/>
            <a:ext cx="11661058" cy="2554545"/>
          </a:xfrm>
          <a:prstGeom prst="rect">
            <a:avLst/>
          </a:prstGeom>
          <a:noFill/>
        </p:spPr>
        <p:txBody>
          <a:bodyPr wrap="square" rtlCol="0">
            <a:spAutoFit/>
          </a:bodyPr>
          <a:lstStyle/>
          <a:p>
            <a:pPr marL="285750" lvl="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Dataset Reference: </a:t>
            </a:r>
            <a:r>
              <a:rPr lang="en-US" sz="2000" u="sng" dirty="0">
                <a:latin typeface="Times New Roman" panose="02020603050405020304" pitchFamily="18" charset="0"/>
                <a:cs typeface="Times New Roman" panose="02020603050405020304" pitchFamily="18" charset="0"/>
                <a:hlinkClick r:id="rId3"/>
              </a:rPr>
              <a:t>https://www.kaggle.com/datasets/stephanmatzka/predictive-maintenance-dataset-ai4i-2020</a:t>
            </a:r>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LSTM: </a:t>
            </a:r>
            <a:r>
              <a:rPr lang="en-US" sz="2000" u="sng" dirty="0">
                <a:latin typeface="Times New Roman" panose="02020603050405020304" pitchFamily="18" charset="0"/>
                <a:cs typeface="Times New Roman" panose="02020603050405020304" pitchFamily="18" charset="0"/>
                <a:hlinkClick r:id="rId4"/>
              </a:rPr>
              <a:t>https://www.geeksforgeeks.org/deep-learning/deep-learning-introduction-to-long-short-term-memory/</a:t>
            </a:r>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Ø"/>
            </a:pPr>
            <a:r>
              <a:rPr lang="en-US" sz="2000" dirty="0" err="1">
                <a:latin typeface="Times New Roman" panose="02020603050405020304" pitchFamily="18" charset="0"/>
                <a:cs typeface="Times New Roman" panose="02020603050405020304" pitchFamily="18" charset="0"/>
              </a:rPr>
              <a:t>Keras</a:t>
            </a:r>
            <a:r>
              <a:rPr lang="en-US" sz="2000" dirty="0">
                <a:latin typeface="Times New Roman" panose="02020603050405020304" pitchFamily="18" charset="0"/>
                <a:cs typeface="Times New Roman" panose="02020603050405020304" pitchFamily="18" charset="0"/>
              </a:rPr>
              <a:t>: </a:t>
            </a:r>
            <a:r>
              <a:rPr lang="en-US" sz="2000" u="sng" dirty="0">
                <a:latin typeface="Times New Roman" panose="02020603050405020304" pitchFamily="18" charset="0"/>
                <a:cs typeface="Times New Roman" panose="02020603050405020304" pitchFamily="18" charset="0"/>
                <a:hlinkClick r:id="rId5"/>
              </a:rPr>
              <a:t>https://keras.io</a:t>
            </a:r>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Flask: </a:t>
            </a:r>
            <a:r>
              <a:rPr lang="en-US" sz="2000" u="sng" dirty="0">
                <a:latin typeface="Times New Roman" panose="02020603050405020304" pitchFamily="18" charset="0"/>
                <a:cs typeface="Times New Roman" panose="02020603050405020304" pitchFamily="18" charset="0"/>
                <a:hlinkClick r:id="rId6"/>
              </a:rPr>
              <a:t>https://flask.palletsprojects.com/en/stable/</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55863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E80605-1075-6E4B-05C2-4D6055C503A9}"/>
              </a:ext>
            </a:extLst>
          </p:cNvPr>
          <p:cNvSpPr txBox="1"/>
          <p:nvPr/>
        </p:nvSpPr>
        <p:spPr>
          <a:xfrm>
            <a:off x="4424516" y="2921168"/>
            <a:ext cx="3562450" cy="1015663"/>
          </a:xfrm>
          <a:prstGeom prst="rect">
            <a:avLst/>
          </a:prstGeom>
          <a:noFill/>
        </p:spPr>
        <p:txBody>
          <a:bodyPr wrap="none" rtlCol="0">
            <a:spAutoFit/>
          </a:bodyPr>
          <a:lstStyle/>
          <a:p>
            <a:r>
              <a:rPr lang="en-US" sz="60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1736730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TotalTime>
  <Words>1199</Words>
  <Application>Microsoft Office PowerPoint</Application>
  <PresentationFormat>Widescreen</PresentationFormat>
  <Paragraphs>150</Paragraphs>
  <Slides>16</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Pratham Prajapati</dc:creator>
  <cp:lastModifiedBy>Pratham Prajapati</cp:lastModifiedBy>
  <cp:revision>13</cp:revision>
  <dcterms:created xsi:type="dcterms:W3CDTF">2026-02-15T12:42:27Z</dcterms:created>
  <dcterms:modified xsi:type="dcterms:W3CDTF">2026-02-20T07:31:59Z</dcterms:modified>
</cp:coreProperties>
</file>