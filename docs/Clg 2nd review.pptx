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6"/>
  </p:notesMasterIdLst>
  <p:sldIdLst>
    <p:sldId id="263" r:id="rId2"/>
    <p:sldId id="257" r:id="rId3"/>
    <p:sldId id="258" r:id="rId4"/>
    <p:sldId id="265" r:id="rId5"/>
    <p:sldId id="266" r:id="rId6"/>
    <p:sldId id="267" r:id="rId7"/>
    <p:sldId id="269" r:id="rId8"/>
    <p:sldId id="277" r:id="rId9"/>
    <p:sldId id="268" r:id="rId10"/>
    <p:sldId id="276" r:id="rId11"/>
    <p:sldId id="275" r:id="rId12"/>
    <p:sldId id="273" r:id="rId13"/>
    <p:sldId id="274" r:id="rId14"/>
    <p:sldId id="264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4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1BED7E8-5420-4F73-BA32-34A7030FE7D8}" type="datetimeFigureOut">
              <a:rPr lang="en-US" smtClean="0"/>
              <a:t>4/18/2026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E795739-CA6B-4BAB-AD11-B86E0C9116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503952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119E7F2-498D-45ED-A645-8BBCF90873D0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506289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119E7F2-498D-45ED-A645-8BBCF90873D0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506289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C02450-8B39-F9CA-E016-C63037C763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43FE313-8E88-5B11-958B-E3781291F00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13461F2-1A74-5FDD-6A89-637D63809E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2335333-5B22-AF69-0FF7-0BA3A4DEE62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119E7F2-498D-45ED-A645-8BBCF90873D0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414004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80ABF4-46F1-C9F1-252B-96D978B887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B37ED3B-9C64-DE0E-1D3B-33B0484804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718D629-91BD-8FD4-A04A-812F6AB09D7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7DEEEF-8AB6-54C7-1B2D-CF1CA1BFC64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119E7F2-498D-45ED-A645-8BBCF90873D0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70221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AADCC8-95E4-F662-D473-8EF8626B86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2B561AF-B228-4531-28D2-B9787D6113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A315E2E-BA06-1825-27C9-99FEB23832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F09298-EA17-E481-F871-555031D85AE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119E7F2-498D-45ED-A645-8BBCF90873D0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38504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5942D6-E31F-FFE6-A59E-915AB5EC34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FA2B545-B0E3-78C6-9B5C-0904700154B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B74C096-B68B-E1D9-EBE8-0EF7C49E149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4D7E46-440C-2D22-27AF-A5CF22E5511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119E7F2-498D-45ED-A645-8BBCF90873D0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157338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A70177-3241-9787-8FE5-3D1C2A89A6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4888FAA-6752-76D2-42E8-86B0DFEA327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4B3514B-0B70-4F72-4C68-263FBD4C001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A838BE-C6D7-DA61-D913-0B10FBE481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119E7F2-498D-45ED-A645-8BBCF90873D0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338111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108448-B8B0-D313-353E-616DAB301D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61BF45A-57FC-E02F-0E13-98B270F2E7E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DD0D77E-5AFF-628E-BA6B-5F8BFAABF2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C16C0D-5708-C253-C2C7-3B59122C5DA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119E7F2-498D-45ED-A645-8BBCF90873D0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331580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8DF7F0-CC61-0DD1-055A-F106F796F2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A58D146-8DAE-35FF-57CD-485C703338D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72C9F5A-2EBC-AF4C-8320-5FFC89BA34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97B2B5C-B1F1-431B-640B-7BDB9E1A2D3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119E7F2-498D-45ED-A645-8BBCF90873D0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473260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929C80-4B9D-BEE6-6F02-16BB3B296F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9D4E5FF-AE4F-40ED-4CAF-545950D886C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6B433B1-8E56-3BA3-3A4D-10DE2621DBC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C6A3AD-5EF2-3443-DE66-5A36B789700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119E7F2-498D-45ED-A645-8BBCF90873D0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24329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DB207F-A8E3-9325-929A-4A86D8CD9B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D6BE39E-C925-80AB-F0EB-D1B13A9EB0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41D590E-474B-8514-7CCF-C90687E4C6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E90650-2AB9-69F2-BF0E-63871A68208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119E7F2-498D-45ED-A645-8BBCF90873D0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25930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1F3568-8D0F-12B2-1664-184786A5F8C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0056AF0-759A-A4E3-2645-C80D3FF3820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1588D2-B229-8CAE-A88C-CEE86B58EC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98EE3F-C531-4F47-81BE-EB7857D8F039}" type="datetimeFigureOut">
              <a:rPr lang="en-US" smtClean="0"/>
              <a:t>4/18/2026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2D36696-14B1-63FA-A611-C72414BCC8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5DED547-75DA-E272-930D-FAA153520E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E1F63E-44D9-46F9-A101-DE9709C851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43819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7F180D-165A-539F-988D-0EB996D766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EA583E-A70C-7C45-8107-25C7E2C5FD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6E87647-B41E-A018-6CEB-6C853E55A5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98EE3F-C531-4F47-81BE-EB7857D8F039}" type="datetimeFigureOut">
              <a:rPr lang="en-US" smtClean="0"/>
              <a:t>4/18/2026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FDC4F3-C258-6D8F-01A9-3B559F7EE7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FE4EC3-6EA3-5F2C-BF6F-00173D9291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E1F63E-44D9-46F9-A101-DE9709C851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581123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2CAD91-10E8-66E0-7116-9E05A14B24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85B0959-42B9-D46F-59B5-8EF41EDB4C5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708C846-102F-8D21-1D7E-B349A4D90E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98EE3F-C531-4F47-81BE-EB7857D8F039}" type="datetimeFigureOut">
              <a:rPr lang="en-US" smtClean="0"/>
              <a:t>4/18/2026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1C0D46-6E00-8B86-AA5B-0AA49D2974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CBCEF6-CB65-E675-117E-C1837C8B78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E1F63E-44D9-46F9-A101-DE9709C851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7707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51314E-C1A4-C501-FD62-142E1A2F1A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ED04E6-196B-CCC6-593A-E188185E3C3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6F29BD0-3E57-15FB-FFFD-F18ADDF227A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471CDF2-6F09-1192-8959-8DFAD7567F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98EE3F-C531-4F47-81BE-EB7857D8F039}" type="datetimeFigureOut">
              <a:rPr lang="en-US" smtClean="0"/>
              <a:t>4/18/2026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11510EF-83D8-3B5B-D87B-EFC9768EFA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6FF709B-0354-9642-1667-3FBFE238B9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E1F63E-44D9-46F9-A101-DE9709C851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01560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C2E57C-69F7-1F25-2E9C-A6CB47BDB6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D221B58-BD95-4A45-FEDB-09DC4E5290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0BFC855-12DA-9B64-F0D3-7271413418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5E6AE8B-71E3-98AB-4E88-E3B24FB3CFB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FE3E7E2-ECEE-C343-F56B-3CCCDB83234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0E6F8F8-4BE8-8E34-4D70-75246A3EBF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98EE3F-C531-4F47-81BE-EB7857D8F039}" type="datetimeFigureOut">
              <a:rPr lang="en-US" smtClean="0"/>
              <a:t>4/18/2026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CD66D3F-3415-1C84-186F-C52F0C25FD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53D3CBA-2B1A-1E6A-76D5-08243EC092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E1F63E-44D9-46F9-A101-DE9709C851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36162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BDB644-DEE1-8B12-605A-A1929DCF3C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E347B70-24FE-ADC5-853D-B46C4E8768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98EE3F-C531-4F47-81BE-EB7857D8F039}" type="datetimeFigureOut">
              <a:rPr lang="en-US" smtClean="0"/>
              <a:t>4/18/2026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1F42AAB-9E81-1CA9-87B8-C50FAD9CD7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841B612-CDFC-460B-C095-CD009700A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E1F63E-44D9-46F9-A101-DE9709C851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15280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C355967-9097-746A-5201-CAC2D6BEBC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98EE3F-C531-4F47-81BE-EB7857D8F039}" type="datetimeFigureOut">
              <a:rPr lang="en-US" smtClean="0"/>
              <a:t>4/18/2026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E7B7073-CC7D-DF49-AD4D-B30D6086A6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58D79B-6156-150F-4710-870E12AD06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E1F63E-44D9-46F9-A101-DE9709C851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53062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AB27EA-73D5-43A3-9C2F-CE831A31D8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800DC7-AACA-CC89-1F98-C90DEE95C4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81064ED-7F16-9508-596A-84E98375BA7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2AE5497-1F50-B654-B8BE-9A8A124CEF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98EE3F-C531-4F47-81BE-EB7857D8F039}" type="datetimeFigureOut">
              <a:rPr lang="en-US" smtClean="0"/>
              <a:t>4/18/2026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BE2BAAC-26CD-7B36-B591-C7DCA1CB83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C1AD99-36C2-36F5-758E-0C6F0B2E64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E1F63E-44D9-46F9-A101-DE9709C851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589936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2739EC-8833-DBBD-3203-B8CEA41929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05D6FCA-50E7-B653-9DFA-E0C4A0446E1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58EFD06-2A7C-1C25-7DAD-0EDFC5E66DF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2078226-5CBA-7082-1BA0-E3B94005A9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98EE3F-C531-4F47-81BE-EB7857D8F039}" type="datetimeFigureOut">
              <a:rPr lang="en-US" smtClean="0"/>
              <a:t>4/18/2026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799CD9D-1154-F96C-0DCF-2D72F5E85F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9C55AC5-9DA2-3859-721C-0FD9546297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E1F63E-44D9-46F9-A101-DE9709C851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474550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25EB10-A5AA-D1BF-FF8F-04DE29308A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7B72D6-D168-0F0E-7C15-A513A1EE4DD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11B1C5-B1F3-315A-28DE-59921770B6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98EE3F-C531-4F47-81BE-EB7857D8F039}" type="datetimeFigureOut">
              <a:rPr lang="en-US" smtClean="0"/>
              <a:t>4/18/2026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78FF44-D482-FBCC-6D7C-A560596708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A3FC32-CD8B-D3AE-F273-E8781644A7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E1F63E-44D9-46F9-A101-DE9709C851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24601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A2F44A3-7622-2359-3959-8084367E32C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B8ADB2C-B6E9-3A9A-2942-7C7BB24904F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D69660-2225-3721-0976-6AFC5F5AAA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98EE3F-C531-4F47-81BE-EB7857D8F039}" type="datetimeFigureOut">
              <a:rPr lang="en-US" smtClean="0"/>
              <a:t>4/18/2026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452324C-9FFF-9ED9-CE19-0B2152EBC9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F10D2B-EBC7-CE7C-22B1-2CEEABC321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E1F63E-44D9-46F9-A101-DE9709C851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55350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A76CC29-6413-07E0-0F83-2F54ECF872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AF91D0-9C92-7385-25EA-22597435D3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2BB74F-46D8-03EF-2D51-64C4700BD8F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98EE3F-C531-4F47-81BE-EB7857D8F039}" type="datetimeFigureOut">
              <a:rPr lang="en-US" smtClean="0"/>
              <a:t>4/18/2026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3BC302-2576-AF44-615A-AADF1B540C9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AFD645-FDED-209E-23CB-CDA5522E15A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E1F63E-44D9-46F9-A101-DE9709C851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5741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ACD8AACB-CA4F-D599-14E0-02AA951B4E80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3286125" y="129223"/>
            <a:ext cx="5619750" cy="98298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A6C65C56-0737-6750-E644-CD750C5836DE}"/>
              </a:ext>
            </a:extLst>
          </p:cNvPr>
          <p:cNvSpPr txBox="1"/>
          <p:nvPr/>
        </p:nvSpPr>
        <p:spPr>
          <a:xfrm>
            <a:off x="76200" y="1465798"/>
            <a:ext cx="12039600" cy="56938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IBM Project Presentation</a:t>
            </a:r>
          </a:p>
          <a:p>
            <a:pPr algn="ctr"/>
            <a:r>
              <a:rPr lang="en-US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on</a:t>
            </a:r>
          </a:p>
          <a:p>
            <a:pPr algn="ctr"/>
            <a:r>
              <a:rPr lang="en-US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“Proactive Equipment Care using Analytics with Cloud - Cloud Integrated Analytics” </a:t>
            </a:r>
          </a:p>
          <a:p>
            <a:pPr algn="ctr"/>
            <a:r>
              <a:rPr lang="en-US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By </a:t>
            </a:r>
          </a:p>
          <a:p>
            <a:pPr algn="ctr"/>
            <a:r>
              <a:rPr lang="en-US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Group ID: G03</a:t>
            </a:r>
          </a:p>
          <a:p>
            <a:pPr algn="ctr"/>
            <a:r>
              <a:rPr lang="en-US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Team Members Name &amp; Enrollment No:</a:t>
            </a:r>
          </a:p>
          <a:p>
            <a:pPr algn="ctr"/>
            <a:r>
              <a:rPr lang="en-US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Patel Megh(22162121011)</a:t>
            </a:r>
          </a:p>
          <a:p>
            <a:pPr algn="ctr"/>
            <a:r>
              <a:rPr lang="en-US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Prajapati Pratham(22162171023)</a:t>
            </a:r>
          </a:p>
          <a:p>
            <a:pPr algn="ctr"/>
            <a:r>
              <a:rPr lang="en-US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Patel Tirth(22162101016)</a:t>
            </a:r>
          </a:p>
          <a:p>
            <a:pPr algn="ctr"/>
            <a:r>
              <a:rPr lang="en-US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Under The guidance of </a:t>
            </a:r>
          </a:p>
          <a:p>
            <a:pPr algn="ctr"/>
            <a:r>
              <a:rPr lang="en-US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Prof. Umesh </a:t>
            </a:r>
            <a:r>
              <a:rPr lang="en-US" sz="2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Lakhtariya</a:t>
            </a:r>
            <a:r>
              <a:rPr lang="en-US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/Mr. Anoj Dixit</a:t>
            </a:r>
          </a:p>
          <a:p>
            <a:pPr algn="ctr"/>
            <a:r>
              <a:rPr lang="en-US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Institute Of Computer Technology, Ganpat University</a:t>
            </a:r>
          </a:p>
          <a:p>
            <a:pPr algn="ctr"/>
            <a:r>
              <a:rPr lang="en-US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Date</a:t>
            </a:r>
            <a:r>
              <a:rPr lang="en-US" sz="2600">
                <a:latin typeface="Times New Roman" panose="02020603050405020304" pitchFamily="18" charset="0"/>
                <a:cs typeface="Times New Roman" panose="02020603050405020304" pitchFamily="18" charset="0"/>
              </a:rPr>
              <a:t>:- 18</a:t>
            </a:r>
            <a:r>
              <a:rPr lang="en-US" sz="2600" baseline="30000">
                <a:latin typeface="Times New Roman" panose="02020603050405020304" pitchFamily="18" charset="0"/>
                <a:cs typeface="Times New Roman" panose="02020603050405020304" pitchFamily="18" charset="0"/>
              </a:rPr>
              <a:t>th</a:t>
            </a:r>
            <a:r>
              <a:rPr lang="en-US" sz="260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April 2026</a:t>
            </a:r>
          </a:p>
          <a:p>
            <a:pPr algn="ctr"/>
            <a:endParaRPr lang="en-US" sz="2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7904351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704CF11-9991-8DF7-ADCE-F176A3D367CA}"/>
              </a:ext>
            </a:extLst>
          </p:cNvPr>
          <p:cNvSpPr txBox="1"/>
          <p:nvPr/>
        </p:nvSpPr>
        <p:spPr>
          <a:xfrm>
            <a:off x="388374" y="108155"/>
            <a:ext cx="1141525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/>
              <a:t>Index Of Content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A0C54F4-5A2B-14F9-1FB2-644F9C2D3A9C}"/>
              </a:ext>
            </a:extLst>
          </p:cNvPr>
          <p:cNvSpPr txBox="1"/>
          <p:nvPr/>
        </p:nvSpPr>
        <p:spPr>
          <a:xfrm>
            <a:off x="388374" y="1484670"/>
            <a:ext cx="11724968" cy="56938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Abstract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Problem Statement 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Objectives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Scope of the Project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Workflow of Project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ML Training Workflow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System Architecture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Technology Stack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Module Description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Advantages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Limitations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784703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E657590-6701-F00D-6A01-F848739F61F0}"/>
              </a:ext>
            </a:extLst>
          </p:cNvPr>
          <p:cNvSpPr txBox="1"/>
          <p:nvPr/>
        </p:nvSpPr>
        <p:spPr>
          <a:xfrm>
            <a:off x="265471" y="196645"/>
            <a:ext cx="1166105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Abstract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A88531B-8F38-D3C2-985F-88E10F40E1C1}"/>
              </a:ext>
            </a:extLst>
          </p:cNvPr>
          <p:cNvSpPr txBox="1"/>
          <p:nvPr/>
        </p:nvSpPr>
        <p:spPr>
          <a:xfrm>
            <a:off x="265471" y="792624"/>
            <a:ext cx="11661058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algn="just">
              <a:buFont typeface="Wingdings" panose="05000000000000000000" pitchFamily="2" charset="2"/>
              <a:buChar char="Ø"/>
            </a:pPr>
            <a:r>
              <a:rPr lang="en-US" sz="20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Proactive Equipment Care using Analytics with Cloud is a cloud-based intelligent maintenance system designed to predict equipment failures before they occur. </a:t>
            </a:r>
          </a:p>
          <a:p>
            <a:pPr marL="342900" indent="-342900" algn="just">
              <a:buFont typeface="Wingdings" panose="05000000000000000000" pitchFamily="2" charset="2"/>
              <a:buChar char="Ø"/>
            </a:pPr>
            <a:endParaRPr lang="en-US" sz="2000" dirty="0">
              <a:latin typeface="Times New Roman" panose="02020603050405020304" pitchFamily="18" charset="0"/>
              <a:ea typeface="Tahoma" panose="020B0604030504040204" pitchFamily="34" charset="0"/>
              <a:cs typeface="Times New Roman" panose="02020603050405020304" pitchFamily="18" charset="0"/>
            </a:endParaRPr>
          </a:p>
          <a:p>
            <a:pPr marL="342900" indent="-342900" algn="just">
              <a:buFont typeface="Wingdings" panose="05000000000000000000" pitchFamily="2" charset="2"/>
              <a:buChar char="Ø"/>
            </a:pPr>
            <a:r>
              <a:rPr lang="en-US" sz="20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Traditional maintenance approaches are reactive, leading to unexpected downtime and high repair costs. This system integrates data analytics, machine learning, and cloud computing to monitor equipment health in real-time. </a:t>
            </a:r>
          </a:p>
          <a:p>
            <a:pPr marL="342900" indent="-342900" algn="just">
              <a:buFont typeface="Wingdings" panose="05000000000000000000" pitchFamily="2" charset="2"/>
              <a:buChar char="Ø"/>
            </a:pPr>
            <a:endParaRPr lang="en-US" sz="2000" dirty="0">
              <a:latin typeface="Times New Roman" panose="02020603050405020304" pitchFamily="18" charset="0"/>
              <a:ea typeface="Tahoma" panose="020B0604030504040204" pitchFamily="34" charset="0"/>
              <a:cs typeface="Times New Roman" panose="02020603050405020304" pitchFamily="18" charset="0"/>
            </a:endParaRPr>
          </a:p>
          <a:p>
            <a:pPr marL="342900" indent="-342900" algn="just">
              <a:buFont typeface="Wingdings" panose="05000000000000000000" pitchFamily="2" charset="2"/>
              <a:buChar char="Ø"/>
            </a:pPr>
            <a:r>
              <a:rPr lang="en-US" sz="20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Motor data is processed and analyzed to detect patterns and anomalies. </a:t>
            </a:r>
          </a:p>
          <a:p>
            <a:pPr marL="342900" indent="-342900" algn="just">
              <a:buFont typeface="Wingdings" panose="05000000000000000000" pitchFamily="2" charset="2"/>
              <a:buChar char="Ø"/>
            </a:pPr>
            <a:endParaRPr lang="en-US" sz="2000" dirty="0">
              <a:latin typeface="Times New Roman" panose="02020603050405020304" pitchFamily="18" charset="0"/>
              <a:ea typeface="Tahoma" panose="020B0604030504040204" pitchFamily="34" charset="0"/>
              <a:cs typeface="Times New Roman" panose="02020603050405020304" pitchFamily="18" charset="0"/>
            </a:endParaRPr>
          </a:p>
          <a:p>
            <a:pPr marL="342900" indent="-342900" algn="just">
              <a:buFont typeface="Wingdings" panose="05000000000000000000" pitchFamily="2" charset="2"/>
              <a:buChar char="Ø"/>
            </a:pPr>
            <a:r>
              <a:rPr lang="en-US" sz="20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The ML model predicts potential failures, enabling preventive maintenance. </a:t>
            </a:r>
          </a:p>
          <a:p>
            <a:pPr marL="342900" indent="-342900" algn="just">
              <a:buFont typeface="Wingdings" panose="05000000000000000000" pitchFamily="2" charset="2"/>
              <a:buChar char="Ø"/>
            </a:pPr>
            <a:endParaRPr lang="en-US" sz="2000" dirty="0">
              <a:latin typeface="Times New Roman" panose="02020603050405020304" pitchFamily="18" charset="0"/>
              <a:ea typeface="Tahoma" panose="020B0604030504040204" pitchFamily="34" charset="0"/>
              <a:cs typeface="Times New Roman" panose="02020603050405020304" pitchFamily="18" charset="0"/>
            </a:endParaRPr>
          </a:p>
          <a:p>
            <a:pPr marL="342900" indent="-342900" algn="just">
              <a:buFont typeface="Wingdings" panose="05000000000000000000" pitchFamily="2" charset="2"/>
              <a:buChar char="Ø"/>
            </a:pPr>
            <a:r>
              <a:rPr lang="en-US" sz="20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The solution improves operational efficiency, reduces downtime, and enhances equipment lifespan.</a:t>
            </a:r>
          </a:p>
        </p:txBody>
      </p:sp>
    </p:spTree>
    <p:extLst>
      <p:ext uri="{BB962C8B-B14F-4D97-AF65-F5344CB8AC3E}">
        <p14:creationId xmlns:p14="http://schemas.microsoft.com/office/powerpoint/2010/main" val="309287265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E657590-6701-F00D-6A01-F848739F61F0}"/>
              </a:ext>
            </a:extLst>
          </p:cNvPr>
          <p:cNvSpPr txBox="1"/>
          <p:nvPr/>
        </p:nvSpPr>
        <p:spPr>
          <a:xfrm>
            <a:off x="265471" y="196645"/>
            <a:ext cx="1166105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Problem Statement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A88531B-8F38-D3C2-985F-88E10F40E1C1}"/>
              </a:ext>
            </a:extLst>
          </p:cNvPr>
          <p:cNvSpPr txBox="1"/>
          <p:nvPr/>
        </p:nvSpPr>
        <p:spPr>
          <a:xfrm>
            <a:off x="265471" y="792624"/>
            <a:ext cx="11661058" cy="34778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algn="just">
              <a:buFont typeface="Wingdings" panose="05000000000000000000" pitchFamily="2" charset="2"/>
              <a:buChar char="Ø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Industries rely heavily on reactive maintenance strategies, where equipment is repaired only after failure occurs. This leads to:</a:t>
            </a:r>
          </a:p>
          <a:p>
            <a:pPr marL="342900" indent="-342900" algn="just">
              <a:buFont typeface="Wingdings" panose="05000000000000000000" pitchFamily="2" charset="2"/>
              <a:buChar char="ü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Unexpected equipment failures lead to production loss, increased downtime, high maintenance costs, and potential safety risks in industrial environments. </a:t>
            </a:r>
          </a:p>
          <a:p>
            <a:pPr marL="342900" indent="-342900" algn="just">
              <a:buFont typeface="Wingdings" panose="05000000000000000000" pitchFamily="2" charset="2"/>
              <a:buChar char="ü"/>
            </a:pP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 algn="just">
              <a:buFont typeface="Wingdings" panose="05000000000000000000" pitchFamily="2" charset="2"/>
              <a:buChar char="ü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Traditional reactive maintenance approaches address issues only after failure, resulting in inefficient operations, higher repair costs, and poor maintenance planning. </a:t>
            </a:r>
          </a:p>
          <a:p>
            <a:pPr marL="342900" indent="-342900" algn="just">
              <a:buFont typeface="Wingdings" panose="05000000000000000000" pitchFamily="2" charset="2"/>
              <a:buChar char="ü"/>
            </a:pP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 algn="just">
              <a:buFont typeface="Wingdings" panose="05000000000000000000" pitchFamily="2" charset="2"/>
              <a:buChar char="ü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There is a need for a cloud-based smart system with analytics to enable continuous monitoring, centralized data storage, and data-driven decision-making for optimized maintenance and resource management. </a:t>
            </a:r>
          </a:p>
          <a:p>
            <a:pPr algn="just"/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89897FB-4374-03CD-17F5-C0776814129B}"/>
              </a:ext>
            </a:extLst>
          </p:cNvPr>
          <p:cNvSpPr txBox="1"/>
          <p:nvPr/>
        </p:nvSpPr>
        <p:spPr>
          <a:xfrm>
            <a:off x="265471" y="4054189"/>
            <a:ext cx="1166105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Solution:- There is a need for an intelligent cloud-based system that can predict equipment failures before they happen.</a:t>
            </a:r>
          </a:p>
          <a:p>
            <a:pPr algn="just"/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5709583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D2D124-6C74-A439-EEE3-91DB173C13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0FB66D7-E44A-359E-D3F9-66A35AFC7EDE}"/>
              </a:ext>
            </a:extLst>
          </p:cNvPr>
          <p:cNvSpPr txBox="1"/>
          <p:nvPr/>
        </p:nvSpPr>
        <p:spPr>
          <a:xfrm>
            <a:off x="265471" y="196645"/>
            <a:ext cx="1166105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Objectives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952F9B2-DD33-D195-ECD5-0FE67EDE3B16}"/>
              </a:ext>
            </a:extLst>
          </p:cNvPr>
          <p:cNvSpPr txBox="1"/>
          <p:nvPr/>
        </p:nvSpPr>
        <p:spPr>
          <a:xfrm>
            <a:off x="265471" y="792624"/>
            <a:ext cx="11661058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algn="just">
              <a:buFont typeface="Wingdings" panose="05000000000000000000" pitchFamily="2" charset="2"/>
              <a:buChar char="Ø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develop a cloud-based predictive maintenance system for continuous remote monitoring, secure data storage, and intelligent analysis of equipment performance.</a:t>
            </a:r>
          </a:p>
          <a:p>
            <a:pPr marL="342900" indent="-342900" algn="just">
              <a:buFont typeface="Wingdings" panose="05000000000000000000" pitchFamily="2" charset="2"/>
              <a:buChar char="Ø"/>
            </a:pP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 algn="just">
              <a:buFont typeface="Wingdings" panose="05000000000000000000" pitchFamily="2" charset="2"/>
              <a:buChar char="Ø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collect and process key motor data (temperature, vibration, load) and apply machine learning algorithms to accurately assess equipment health and predict potential failures.</a:t>
            </a:r>
          </a:p>
          <a:p>
            <a:pPr marL="342900" indent="-342900" algn="just">
              <a:buFont typeface="Wingdings" panose="05000000000000000000" pitchFamily="2" charset="2"/>
              <a:buChar char="Ø"/>
            </a:pP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 algn="just">
              <a:buFont typeface="Wingdings" panose="05000000000000000000" pitchFamily="2" charset="2"/>
              <a:buChar char="Ø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provide a real-time dashboard that visualizes equipment status, predictions, and historical trends for effective monitoring and decision-making.</a:t>
            </a:r>
          </a:p>
          <a:p>
            <a:pPr marL="342900" indent="-342900" algn="just">
              <a:buFont typeface="Wingdings" panose="05000000000000000000" pitchFamily="2" charset="2"/>
              <a:buChar char="Ø"/>
            </a:pP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 algn="just">
              <a:buFont typeface="Wingdings" panose="05000000000000000000" pitchFamily="2" charset="2"/>
              <a:buChar char="Ø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reduce downtime and maintenance costs by enabling proactive maintenance through advanced analytics and early fault detection. </a:t>
            </a:r>
          </a:p>
          <a:p>
            <a:pPr marL="342900" indent="-342900" algn="just">
              <a:buFont typeface="Wingdings" panose="05000000000000000000" pitchFamily="2" charset="2"/>
              <a:buChar char="Ø"/>
            </a:pP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6257820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DBBD08-118B-D808-84A6-480DFA3517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F8AEFDA-3744-BC67-062F-841E59E528C8}"/>
              </a:ext>
            </a:extLst>
          </p:cNvPr>
          <p:cNvSpPr txBox="1"/>
          <p:nvPr/>
        </p:nvSpPr>
        <p:spPr>
          <a:xfrm>
            <a:off x="265471" y="196645"/>
            <a:ext cx="1166105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Scope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B0E6B92-D475-4F9C-7689-CFDB58CF5EA8}"/>
              </a:ext>
            </a:extLst>
          </p:cNvPr>
          <p:cNvSpPr txBox="1"/>
          <p:nvPr/>
        </p:nvSpPr>
        <p:spPr>
          <a:xfrm>
            <a:off x="265471" y="792624"/>
            <a:ext cx="11661058" cy="40934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algn="just">
              <a:buFont typeface="Wingdings" panose="05000000000000000000" pitchFamily="2" charset="2"/>
              <a:buChar char="Ø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Our idea will Help in:</a:t>
            </a:r>
          </a:p>
          <a:p>
            <a:pPr marL="342900" indent="-342900" algn="just">
              <a:buFont typeface="Wingdings" panose="05000000000000000000" pitchFamily="2" charset="2"/>
              <a:buChar char="ü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continuously monitor equipment condition in real time by tracking parameters such as temperature, vibration, and load for accurate performance assessment. </a:t>
            </a:r>
          </a:p>
          <a:p>
            <a:pPr marL="342900" indent="-342900" algn="just">
              <a:buFont typeface="Wingdings" panose="05000000000000000000" pitchFamily="2" charset="2"/>
              <a:buChar char="ü"/>
            </a:pP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 algn="just">
              <a:buFont typeface="Wingdings" panose="05000000000000000000" pitchFamily="2" charset="2"/>
              <a:buChar char="ü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predict potential equipment failures using data-driven and machine learning models that identify patterns and early warning signs. </a:t>
            </a:r>
          </a:p>
          <a:p>
            <a:pPr marL="342900" indent="-342900" algn="just">
              <a:buFont typeface="Wingdings" panose="05000000000000000000" pitchFamily="2" charset="2"/>
              <a:buChar char="ü"/>
            </a:pP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 algn="just">
              <a:buFont typeface="Wingdings" panose="05000000000000000000" pitchFamily="2" charset="2"/>
              <a:buChar char="ü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enable remote monitoring and real-time accessibility through cloud integration, ensuring scalability and efficient handling of large data and multiple devices. </a:t>
            </a:r>
          </a:p>
          <a:p>
            <a:pPr marL="342900" indent="-342900" algn="just">
              <a:buFont typeface="Wingdings" panose="05000000000000000000" pitchFamily="2" charset="2"/>
              <a:buChar char="ü"/>
            </a:pP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 algn="just">
              <a:buFont typeface="Wingdings" panose="05000000000000000000" pitchFamily="2" charset="2"/>
              <a:buChar char="ü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support applications in industries like manufacturing, power plants, and heavy machinery, with IoT integration for smart sensors to improve maintenance efficiency and reduce operational risks. </a:t>
            </a:r>
          </a:p>
          <a:p>
            <a:pPr marL="342900" indent="-342900" algn="just">
              <a:buFont typeface="Wingdings" panose="05000000000000000000" pitchFamily="2" charset="2"/>
              <a:buChar char="ü"/>
            </a:pP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2353459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E0EBB8-2C16-F9AF-DC28-A92064C0BA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135DC7D-8465-FFE9-C68C-B7E2740F495F}"/>
              </a:ext>
            </a:extLst>
          </p:cNvPr>
          <p:cNvSpPr txBox="1"/>
          <p:nvPr/>
        </p:nvSpPr>
        <p:spPr>
          <a:xfrm>
            <a:off x="265471" y="196645"/>
            <a:ext cx="1166105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Workflow Of Project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EDA66CB-0C4B-8248-C53C-B30B5F3FE70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5601" y="801145"/>
            <a:ext cx="9326880" cy="57654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487587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B1CC0B-9258-E5EB-A4FE-030703478C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216B366-2F18-28D7-251A-3DFE8671EF7B}"/>
              </a:ext>
            </a:extLst>
          </p:cNvPr>
          <p:cNvSpPr txBox="1"/>
          <p:nvPr/>
        </p:nvSpPr>
        <p:spPr>
          <a:xfrm>
            <a:off x="265471" y="226142"/>
            <a:ext cx="1166105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ML Training Workflow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7B6A86F-FFA2-F668-D8F8-EBCB383DD60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0942" y="1071716"/>
            <a:ext cx="10618839" cy="51717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067305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6CE408-454F-0B20-DB97-ABA11623DA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EAE2732-D274-0068-88B3-6643BA113CD9}"/>
              </a:ext>
            </a:extLst>
          </p:cNvPr>
          <p:cNvSpPr txBox="1"/>
          <p:nvPr/>
        </p:nvSpPr>
        <p:spPr>
          <a:xfrm>
            <a:off x="265471" y="127819"/>
            <a:ext cx="1166105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System Architecture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1C2600D-2D0E-930A-0E24-ADF6F0FC343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1716" y="540774"/>
            <a:ext cx="8701550" cy="63172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948527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93F5B6-0A81-ED91-3840-230D805A76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46E4168-7AB3-32F7-B0A5-8167AA6C64EA}"/>
              </a:ext>
            </a:extLst>
          </p:cNvPr>
          <p:cNvSpPr txBox="1"/>
          <p:nvPr/>
        </p:nvSpPr>
        <p:spPr>
          <a:xfrm>
            <a:off x="265471" y="196645"/>
            <a:ext cx="1166105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Module Description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104D0BD-B23E-C3EE-D4E1-251A8B5A6A05}"/>
              </a:ext>
            </a:extLst>
          </p:cNvPr>
          <p:cNvSpPr txBox="1"/>
          <p:nvPr/>
        </p:nvSpPr>
        <p:spPr>
          <a:xfrm>
            <a:off x="265471" y="792624"/>
            <a:ext cx="11661058" cy="62478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algn="just">
              <a:buFont typeface="Wingdings" panose="05000000000000000000" pitchFamily="2" charset="2"/>
              <a:buChar char="Ø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Generation Module</a:t>
            </a:r>
          </a:p>
          <a:p>
            <a:pPr marL="342900" indent="-342900" algn="just">
              <a:buFont typeface="Wingdings" panose="05000000000000000000" pitchFamily="2" charset="2"/>
              <a:buChar char="ü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Collects and manages motor sensor data such as temperature, vibration, current, and load, either from cloud storage or simulated CSV datasets.</a:t>
            </a:r>
          </a:p>
          <a:p>
            <a:pPr algn="just"/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 algn="just">
              <a:buFont typeface="Wingdings" panose="05000000000000000000" pitchFamily="2" charset="2"/>
              <a:buChar char="Ø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Processing Module</a:t>
            </a:r>
          </a:p>
          <a:p>
            <a:pPr marL="342900" indent="-342900" algn="just">
              <a:buFont typeface="Wingdings" panose="05000000000000000000" pitchFamily="2" charset="2"/>
              <a:buChar char="ü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Cleans, normalizes, and prepares raw sensor data through preprocessing and feature engineering for accurate model training.</a:t>
            </a:r>
          </a:p>
          <a:p>
            <a:pPr marL="342900" indent="-342900" algn="just">
              <a:buFont typeface="Wingdings" panose="05000000000000000000" pitchFamily="2" charset="2"/>
              <a:buChar char="Ø"/>
            </a:pP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 algn="just">
              <a:buFont typeface="Wingdings" panose="05000000000000000000" pitchFamily="2" charset="2"/>
              <a:buChar char="Ø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Prediction Module</a:t>
            </a:r>
          </a:p>
          <a:p>
            <a:pPr marL="342900" indent="-342900" algn="just">
              <a:buFont typeface="Wingdings" panose="05000000000000000000" pitchFamily="2" charset="2"/>
              <a:buChar char="ü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Uses the trained LSTM machine learning model to analyze time-series data and predict equipment failure probability.</a:t>
            </a:r>
          </a:p>
          <a:p>
            <a:pPr marL="342900" indent="-342900" algn="just">
              <a:buFont typeface="Wingdings" panose="05000000000000000000" pitchFamily="2" charset="2"/>
              <a:buChar char="Ø"/>
            </a:pP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 algn="just">
              <a:buFont typeface="Wingdings" panose="05000000000000000000" pitchFamily="2" charset="2"/>
              <a:buChar char="Ø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Dashboard Module</a:t>
            </a:r>
          </a:p>
          <a:p>
            <a:pPr marL="342900" indent="-342900" algn="just">
              <a:buFont typeface="Wingdings" panose="05000000000000000000" pitchFamily="2" charset="2"/>
              <a:buChar char="ü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Displays real-time equipment status, prediction results, and historical trends through an interactive web-based interface.</a:t>
            </a:r>
          </a:p>
          <a:p>
            <a:pPr marL="342900" indent="-342900" algn="just">
              <a:buFont typeface="Wingdings" panose="05000000000000000000" pitchFamily="2" charset="2"/>
              <a:buChar char="Ø"/>
            </a:pP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 algn="just">
              <a:buFont typeface="Wingdings" panose="05000000000000000000" pitchFamily="2" charset="2"/>
              <a:buChar char="Ø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Authentication Module</a:t>
            </a:r>
          </a:p>
          <a:p>
            <a:pPr marL="342900" indent="-342900" algn="just">
              <a:buFont typeface="Wingdings" panose="05000000000000000000" pitchFamily="2" charset="2"/>
              <a:buChar char="ü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Handles secure user login, role-based access control, and logging of user activities using cloud-based authentication services.</a:t>
            </a:r>
          </a:p>
          <a:p>
            <a:pPr algn="just"/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03865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FCF9CA-5514-810C-9EF3-2C443E56CD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D992605-F47C-F551-8C5B-54AD1C5D71FF}"/>
              </a:ext>
            </a:extLst>
          </p:cNvPr>
          <p:cNvSpPr txBox="1"/>
          <p:nvPr/>
        </p:nvSpPr>
        <p:spPr>
          <a:xfrm>
            <a:off x="265471" y="196645"/>
            <a:ext cx="1166105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Advantages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BB9DEDD-EB2E-CCF1-948E-CB7AA078FCFF}"/>
              </a:ext>
            </a:extLst>
          </p:cNvPr>
          <p:cNvSpPr txBox="1"/>
          <p:nvPr/>
        </p:nvSpPr>
        <p:spPr>
          <a:xfrm>
            <a:off x="265471" y="792624"/>
            <a:ext cx="11661058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algn="just">
              <a:buFont typeface="Wingdings" panose="05000000000000000000" pitchFamily="2" charset="2"/>
              <a:buChar char="Ø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Reduces unexpected breakdowns and maintenance costs by predicting failures in advance and shifting from reactive to planned, condition-based maintenance. </a:t>
            </a:r>
          </a:p>
          <a:p>
            <a:pPr marL="342900" indent="-342900" algn="just">
              <a:buFont typeface="Wingdings" panose="05000000000000000000" pitchFamily="2" charset="2"/>
              <a:buChar char="Ø"/>
            </a:pP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 algn="just">
              <a:buFont typeface="Wingdings" panose="05000000000000000000" pitchFamily="2" charset="2"/>
              <a:buChar char="Ø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Increases equipment lifespan and operational efficiency through continuous monitoring and early detection of performance degradation. </a:t>
            </a:r>
          </a:p>
          <a:p>
            <a:pPr marL="342900" indent="-342900" algn="just">
              <a:buFont typeface="Wingdings" panose="05000000000000000000" pitchFamily="2" charset="2"/>
              <a:buChar char="Ø"/>
            </a:pP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 algn="just">
              <a:buFont typeface="Wingdings" panose="05000000000000000000" pitchFamily="2" charset="2"/>
              <a:buChar char="Ø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Provides real-time monitoring of equipment health parameters, enabling faster decision-making and better operational control. </a:t>
            </a:r>
          </a:p>
          <a:p>
            <a:pPr marL="342900" indent="-342900" algn="just">
              <a:buFont typeface="Wingdings" panose="05000000000000000000" pitchFamily="2" charset="2"/>
              <a:buChar char="Ø"/>
            </a:pP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 algn="just">
              <a:buFont typeface="Wingdings" panose="05000000000000000000" pitchFamily="2" charset="2"/>
              <a:buChar char="Ø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Ensures cloud scalability and secure data storage with controlled access, allowing efficient handling of large data volumes and protection of sensitive information. </a:t>
            </a:r>
          </a:p>
          <a:p>
            <a:pPr marL="342900" indent="-342900" algn="just">
              <a:buFont typeface="Wingdings" panose="05000000000000000000" pitchFamily="2" charset="2"/>
              <a:buChar char="Ø"/>
            </a:pP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3425831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B3BBA8-B8D0-5172-4DAB-38AE30A4FE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CD2427E-4EC1-15BA-8FE3-864B77F1F6D4}"/>
              </a:ext>
            </a:extLst>
          </p:cNvPr>
          <p:cNvSpPr txBox="1"/>
          <p:nvPr/>
        </p:nvSpPr>
        <p:spPr>
          <a:xfrm>
            <a:off x="265471" y="196645"/>
            <a:ext cx="1166105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Limitations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2F5C7FC-FABD-3E47-2198-3CAB2FE629EC}"/>
              </a:ext>
            </a:extLst>
          </p:cNvPr>
          <p:cNvSpPr txBox="1"/>
          <p:nvPr/>
        </p:nvSpPr>
        <p:spPr>
          <a:xfrm>
            <a:off x="265471" y="792624"/>
            <a:ext cx="11661058" cy="34778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algn="just">
              <a:buFont typeface="Wingdings" panose="05000000000000000000" pitchFamily="2" charset="2"/>
              <a:buChar char="Ø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Requires high-quality and sufficient historical data to train machine learning models effectively, as poor or imbalanced data can reduce prediction accuracy.</a:t>
            </a:r>
          </a:p>
          <a:p>
            <a:pPr marL="342900" indent="-342900" algn="just">
              <a:buFont typeface="Wingdings" panose="05000000000000000000" pitchFamily="2" charset="2"/>
              <a:buChar char="Ø"/>
            </a:pP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 algn="just">
              <a:buFont typeface="Wingdings" panose="05000000000000000000" pitchFamily="2" charset="2"/>
              <a:buChar char="Ø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Involves high initial setup costs due to cloud infrastructure configuration, system development, and model training.</a:t>
            </a:r>
          </a:p>
          <a:p>
            <a:pPr marL="342900" indent="-342900" algn="just">
              <a:buFont typeface="Wingdings" panose="05000000000000000000" pitchFamily="2" charset="2"/>
              <a:buChar char="Ø"/>
            </a:pP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 algn="just">
              <a:buFont typeface="Wingdings" panose="05000000000000000000" pitchFamily="2" charset="2"/>
              <a:buChar char="Ø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Depends on stable internet connectivity for continuous cloud access, real-time monitoring, and data synchronization.</a:t>
            </a:r>
          </a:p>
          <a:p>
            <a:pPr marL="342900" indent="-342900" algn="just">
              <a:buFont typeface="Wingdings" panose="05000000000000000000" pitchFamily="2" charset="2"/>
              <a:buChar char="Ø"/>
            </a:pP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 algn="just">
              <a:buFont typeface="Wingdings" panose="05000000000000000000" pitchFamily="2" charset="2"/>
              <a:buChar char="Ø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Needs periodic model retraining to adapt to changing equipment behavior, new failure patterns, and updated operational conditions.</a:t>
            </a:r>
          </a:p>
        </p:txBody>
      </p:sp>
    </p:spTree>
    <p:extLst>
      <p:ext uri="{BB962C8B-B14F-4D97-AF65-F5344CB8AC3E}">
        <p14:creationId xmlns:p14="http://schemas.microsoft.com/office/powerpoint/2010/main" val="228288765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56D6C7-B3A5-11E1-4236-039746EDE8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BB59113-A7F0-50AA-9CEE-BF22A6A13FAE}"/>
              </a:ext>
            </a:extLst>
          </p:cNvPr>
          <p:cNvSpPr txBox="1"/>
          <p:nvPr/>
        </p:nvSpPr>
        <p:spPr>
          <a:xfrm>
            <a:off x="265471" y="196645"/>
            <a:ext cx="1166105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Conclusions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745D2C3-CF35-4491-5653-CA91001EC5D2}"/>
              </a:ext>
            </a:extLst>
          </p:cNvPr>
          <p:cNvSpPr txBox="1"/>
          <p:nvPr/>
        </p:nvSpPr>
        <p:spPr>
          <a:xfrm>
            <a:off x="265471" y="792624"/>
            <a:ext cx="11661058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algn="just">
              <a:buFont typeface="Wingdings" panose="05000000000000000000" pitchFamily="2" charset="2"/>
              <a:buChar char="Ø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Proactive Equipment Care system provides a scalable predictive maintenance solution by integrating cloud computing, data analytics, and deep learning to continuously monitor and analyze equipment data.</a:t>
            </a:r>
          </a:p>
          <a:p>
            <a:pPr marL="342900" indent="-342900" algn="just">
              <a:buFont typeface="Wingdings" panose="05000000000000000000" pitchFamily="2" charset="2"/>
              <a:buChar char="Ø"/>
            </a:pP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 algn="just">
              <a:buFont typeface="Wingdings" panose="05000000000000000000" pitchFamily="2" charset="2"/>
              <a:buChar char="Ø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use of an LSTM-based model improves prediction accuracy and enables early failure detection, allowing industries to receive alerts 24–48 hours in advance for proactive maintenance.</a:t>
            </a:r>
          </a:p>
          <a:p>
            <a:pPr marL="342900" indent="-342900" algn="just">
              <a:buFont typeface="Wingdings" panose="05000000000000000000" pitchFamily="2" charset="2"/>
              <a:buChar char="Ø"/>
            </a:pP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 algn="just">
              <a:buFont typeface="Wingdings" panose="05000000000000000000" pitchFamily="2" charset="2"/>
              <a:buChar char="Ø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system transforms traditional reactive maintenance into a data-driven approach, reducing downtime and costs while improving equipment reliability, productivity, and overall operational efficiency.</a:t>
            </a:r>
          </a:p>
        </p:txBody>
      </p:sp>
    </p:spTree>
    <p:extLst>
      <p:ext uri="{BB962C8B-B14F-4D97-AF65-F5344CB8AC3E}">
        <p14:creationId xmlns:p14="http://schemas.microsoft.com/office/powerpoint/2010/main" val="149243365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FE80605-1075-6E4B-05C2-4D6055C503A9}"/>
              </a:ext>
            </a:extLst>
          </p:cNvPr>
          <p:cNvSpPr txBox="1"/>
          <p:nvPr/>
        </p:nvSpPr>
        <p:spPr>
          <a:xfrm>
            <a:off x="4424516" y="2921168"/>
            <a:ext cx="3562450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217367306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136</TotalTime>
  <Words>880</Words>
  <Application>Microsoft Office PowerPoint</Application>
  <PresentationFormat>Widescreen</PresentationFormat>
  <Paragraphs>112</Paragraphs>
  <Slides>14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0" baseType="lpstr">
      <vt:lpstr>Arial</vt:lpstr>
      <vt:lpstr>Calibri</vt:lpstr>
      <vt:lpstr>Calibri Light</vt:lpstr>
      <vt:lpstr>Times New Roman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Pratham Prajapati</dc:creator>
  <cp:lastModifiedBy>Pratham Prajapati</cp:lastModifiedBy>
  <cp:revision>15</cp:revision>
  <dcterms:created xsi:type="dcterms:W3CDTF">2026-02-15T12:42:27Z</dcterms:created>
  <dcterms:modified xsi:type="dcterms:W3CDTF">2026-04-18T05:42:05Z</dcterms:modified>
</cp:coreProperties>
</file>