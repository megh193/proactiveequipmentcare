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63" r:id="rId2"/>
    <p:sldId id="257" r:id="rId3"/>
    <p:sldId id="258" r:id="rId4"/>
    <p:sldId id="265" r:id="rId5"/>
    <p:sldId id="266" r:id="rId6"/>
    <p:sldId id="267" r:id="rId7"/>
    <p:sldId id="269" r:id="rId8"/>
    <p:sldId id="277" r:id="rId9"/>
    <p:sldId id="268" r:id="rId10"/>
    <p:sldId id="271" r:id="rId11"/>
    <p:sldId id="272" r:id="rId12"/>
    <p:sldId id="278" r:id="rId13"/>
    <p:sldId id="276" r:id="rId14"/>
    <p:sldId id="275" r:id="rId15"/>
    <p:sldId id="273" r:id="rId16"/>
    <p:sldId id="274"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ED7E8-5420-4F73-BA32-34A7030FE7D8}"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795739-CA6B-4BAB-AD11-B86E0C9116EA}" type="slidenum">
              <a:rPr lang="en-US" smtClean="0"/>
              <a:t>‹#›</a:t>
            </a:fld>
            <a:endParaRPr lang="en-US"/>
          </a:p>
        </p:txBody>
      </p:sp>
    </p:spTree>
    <p:extLst>
      <p:ext uri="{BB962C8B-B14F-4D97-AF65-F5344CB8AC3E}">
        <p14:creationId xmlns:p14="http://schemas.microsoft.com/office/powerpoint/2010/main" val="1675039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19E7F2-498D-45ED-A645-8BBCF90873D0}" type="slidenum">
              <a:rPr lang="en-US" smtClean="0"/>
              <a:t>3</a:t>
            </a:fld>
            <a:endParaRPr lang="en-US"/>
          </a:p>
        </p:txBody>
      </p:sp>
    </p:spTree>
    <p:extLst>
      <p:ext uri="{BB962C8B-B14F-4D97-AF65-F5344CB8AC3E}">
        <p14:creationId xmlns:p14="http://schemas.microsoft.com/office/powerpoint/2010/main" val="855062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19E7F2-498D-45ED-A645-8BBCF90873D0}" type="slidenum">
              <a:rPr lang="en-US" smtClean="0"/>
              <a:t>4</a:t>
            </a:fld>
            <a:endParaRPr lang="en-US"/>
          </a:p>
        </p:txBody>
      </p:sp>
    </p:spTree>
    <p:extLst>
      <p:ext uri="{BB962C8B-B14F-4D97-AF65-F5344CB8AC3E}">
        <p14:creationId xmlns:p14="http://schemas.microsoft.com/office/powerpoint/2010/main" val="855062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02450-8B39-F9CA-E016-C63037C763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FE313-8E88-5B11-958B-E3781291F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461F2-1A74-5FDD-6A89-637D63809E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335333-5B22-AF69-0FF7-0BA3A4DEE629}"/>
              </a:ext>
            </a:extLst>
          </p:cNvPr>
          <p:cNvSpPr>
            <a:spLocks noGrp="1"/>
          </p:cNvSpPr>
          <p:nvPr>
            <p:ph type="sldNum" sz="quarter" idx="5"/>
          </p:nvPr>
        </p:nvSpPr>
        <p:spPr/>
        <p:txBody>
          <a:bodyPr/>
          <a:lstStyle/>
          <a:p>
            <a:fld id="{C119E7F2-498D-45ED-A645-8BBCF90873D0}" type="slidenum">
              <a:rPr lang="en-US" smtClean="0"/>
              <a:t>5</a:t>
            </a:fld>
            <a:endParaRPr lang="en-US"/>
          </a:p>
        </p:txBody>
      </p:sp>
    </p:spTree>
    <p:extLst>
      <p:ext uri="{BB962C8B-B14F-4D97-AF65-F5344CB8AC3E}">
        <p14:creationId xmlns:p14="http://schemas.microsoft.com/office/powerpoint/2010/main" val="3634140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0ABF4-46F1-C9F1-252B-96D978B88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7ED3B-9C64-DE0E-1D3B-33B048480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8D629-91BD-8FD4-A04A-812F6AB09D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7DEEEF-8AB6-54C7-1B2D-CF1CA1BFC648}"/>
              </a:ext>
            </a:extLst>
          </p:cNvPr>
          <p:cNvSpPr>
            <a:spLocks noGrp="1"/>
          </p:cNvSpPr>
          <p:nvPr>
            <p:ph type="sldNum" sz="quarter" idx="5"/>
          </p:nvPr>
        </p:nvSpPr>
        <p:spPr/>
        <p:txBody>
          <a:bodyPr/>
          <a:lstStyle/>
          <a:p>
            <a:fld id="{C119E7F2-498D-45ED-A645-8BBCF90873D0}" type="slidenum">
              <a:rPr lang="en-US" smtClean="0"/>
              <a:t>6</a:t>
            </a:fld>
            <a:endParaRPr lang="en-US"/>
          </a:p>
        </p:txBody>
      </p:sp>
    </p:spTree>
    <p:extLst>
      <p:ext uri="{BB962C8B-B14F-4D97-AF65-F5344CB8AC3E}">
        <p14:creationId xmlns:p14="http://schemas.microsoft.com/office/powerpoint/2010/main" val="137702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ADCC8-95E4-F662-D473-8EF8626B8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561AF-B228-4531-28D2-B9787D611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15E2E-BA06-1825-27C9-99FEB23832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F09298-EA17-E481-F871-555031D85AE8}"/>
              </a:ext>
            </a:extLst>
          </p:cNvPr>
          <p:cNvSpPr>
            <a:spLocks noGrp="1"/>
          </p:cNvSpPr>
          <p:nvPr>
            <p:ph type="sldNum" sz="quarter" idx="5"/>
          </p:nvPr>
        </p:nvSpPr>
        <p:spPr/>
        <p:txBody>
          <a:bodyPr/>
          <a:lstStyle/>
          <a:p>
            <a:fld id="{C119E7F2-498D-45ED-A645-8BBCF90873D0}" type="slidenum">
              <a:rPr lang="en-US" smtClean="0"/>
              <a:t>7</a:t>
            </a:fld>
            <a:endParaRPr lang="en-US"/>
          </a:p>
        </p:txBody>
      </p:sp>
    </p:spTree>
    <p:extLst>
      <p:ext uri="{BB962C8B-B14F-4D97-AF65-F5344CB8AC3E}">
        <p14:creationId xmlns:p14="http://schemas.microsoft.com/office/powerpoint/2010/main" val="229385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942D6-E31F-FFE6-A59E-915AB5EC3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2B545-B0E3-78C6-9B5C-090470015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74C096-B68B-E1D9-EBE8-0EF7C49E14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4D7E46-440C-2D22-27AF-A5CF22E55119}"/>
              </a:ext>
            </a:extLst>
          </p:cNvPr>
          <p:cNvSpPr>
            <a:spLocks noGrp="1"/>
          </p:cNvSpPr>
          <p:nvPr>
            <p:ph type="sldNum" sz="quarter" idx="5"/>
          </p:nvPr>
        </p:nvSpPr>
        <p:spPr/>
        <p:txBody>
          <a:bodyPr/>
          <a:lstStyle/>
          <a:p>
            <a:fld id="{C119E7F2-498D-45ED-A645-8BBCF90873D0}" type="slidenum">
              <a:rPr lang="en-US" smtClean="0"/>
              <a:t>8</a:t>
            </a:fld>
            <a:endParaRPr lang="en-US"/>
          </a:p>
        </p:txBody>
      </p:sp>
    </p:spTree>
    <p:extLst>
      <p:ext uri="{BB962C8B-B14F-4D97-AF65-F5344CB8AC3E}">
        <p14:creationId xmlns:p14="http://schemas.microsoft.com/office/powerpoint/2010/main" val="2351573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0177-3241-9787-8FE5-3D1C2A89A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88FAA-6752-76D2-42E8-86B0DFEA3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3514B-0B70-4F72-4C68-263FBD4C0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A838BE-C6D7-DA61-D913-0B10FBE481C8}"/>
              </a:ext>
            </a:extLst>
          </p:cNvPr>
          <p:cNvSpPr>
            <a:spLocks noGrp="1"/>
          </p:cNvSpPr>
          <p:nvPr>
            <p:ph type="sldNum" sz="quarter" idx="5"/>
          </p:nvPr>
        </p:nvSpPr>
        <p:spPr/>
        <p:txBody>
          <a:bodyPr/>
          <a:lstStyle/>
          <a:p>
            <a:fld id="{C119E7F2-498D-45ED-A645-8BBCF90873D0}" type="slidenum">
              <a:rPr lang="en-US" smtClean="0"/>
              <a:t>9</a:t>
            </a:fld>
            <a:endParaRPr lang="en-US"/>
          </a:p>
        </p:txBody>
      </p:sp>
    </p:spTree>
    <p:extLst>
      <p:ext uri="{BB962C8B-B14F-4D97-AF65-F5344CB8AC3E}">
        <p14:creationId xmlns:p14="http://schemas.microsoft.com/office/powerpoint/2010/main" val="1303381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47509-3C30-DEC6-5B50-FAA218DB6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2C9E5-8469-5859-34B0-AE19ADEC2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38D90-E948-6E29-68D7-01333E7DC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ABC21D-EE7C-BD2F-609F-623C8351C4F8}"/>
              </a:ext>
            </a:extLst>
          </p:cNvPr>
          <p:cNvSpPr>
            <a:spLocks noGrp="1"/>
          </p:cNvSpPr>
          <p:nvPr>
            <p:ph type="sldNum" sz="quarter" idx="5"/>
          </p:nvPr>
        </p:nvSpPr>
        <p:spPr/>
        <p:txBody>
          <a:bodyPr/>
          <a:lstStyle/>
          <a:p>
            <a:fld id="{C119E7F2-498D-45ED-A645-8BBCF90873D0}" type="slidenum">
              <a:rPr lang="en-US" smtClean="0"/>
              <a:t>10</a:t>
            </a:fld>
            <a:endParaRPr lang="en-US"/>
          </a:p>
        </p:txBody>
      </p:sp>
    </p:spTree>
    <p:extLst>
      <p:ext uri="{BB962C8B-B14F-4D97-AF65-F5344CB8AC3E}">
        <p14:creationId xmlns:p14="http://schemas.microsoft.com/office/powerpoint/2010/main" val="4051647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25A2C-0FA8-EBBC-17B7-D666A281F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3F317-D703-84E6-A80E-7B48639156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FAD2C-26F8-77EA-FE4D-350BEAB728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D77D52-6C1C-6B08-C411-B224E81EF0CB}"/>
              </a:ext>
            </a:extLst>
          </p:cNvPr>
          <p:cNvSpPr>
            <a:spLocks noGrp="1"/>
          </p:cNvSpPr>
          <p:nvPr>
            <p:ph type="sldNum" sz="quarter" idx="5"/>
          </p:nvPr>
        </p:nvSpPr>
        <p:spPr/>
        <p:txBody>
          <a:bodyPr/>
          <a:lstStyle/>
          <a:p>
            <a:fld id="{C119E7F2-498D-45ED-A645-8BBCF90873D0}" type="slidenum">
              <a:rPr lang="en-US" smtClean="0"/>
              <a:t>11</a:t>
            </a:fld>
            <a:endParaRPr lang="en-US"/>
          </a:p>
        </p:txBody>
      </p:sp>
    </p:spTree>
    <p:extLst>
      <p:ext uri="{BB962C8B-B14F-4D97-AF65-F5344CB8AC3E}">
        <p14:creationId xmlns:p14="http://schemas.microsoft.com/office/powerpoint/2010/main" val="4259835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DB6BE-7B61-383A-C39D-2D85EE02A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8A89B-735F-1709-E22B-684965A93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90FD8-4B6F-3D43-0874-F0235CA035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F56310-FCF6-B947-5012-D8E086D8C5B0}"/>
              </a:ext>
            </a:extLst>
          </p:cNvPr>
          <p:cNvSpPr>
            <a:spLocks noGrp="1"/>
          </p:cNvSpPr>
          <p:nvPr>
            <p:ph type="sldNum" sz="quarter" idx="5"/>
          </p:nvPr>
        </p:nvSpPr>
        <p:spPr/>
        <p:txBody>
          <a:bodyPr/>
          <a:lstStyle/>
          <a:p>
            <a:fld id="{C119E7F2-498D-45ED-A645-8BBCF90873D0}" type="slidenum">
              <a:rPr lang="en-US" smtClean="0"/>
              <a:t>12</a:t>
            </a:fld>
            <a:endParaRPr lang="en-US"/>
          </a:p>
        </p:txBody>
      </p:sp>
    </p:spTree>
    <p:extLst>
      <p:ext uri="{BB962C8B-B14F-4D97-AF65-F5344CB8AC3E}">
        <p14:creationId xmlns:p14="http://schemas.microsoft.com/office/powerpoint/2010/main" val="779290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08448-B8B0-D313-353E-616DAB301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BF45A-57FC-E02F-0E13-98B270F2E7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0D77E-5AFF-628E-BA6B-5F8BFAABF2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16C0D-5708-C253-C2C7-3B59122C5DAD}"/>
              </a:ext>
            </a:extLst>
          </p:cNvPr>
          <p:cNvSpPr>
            <a:spLocks noGrp="1"/>
          </p:cNvSpPr>
          <p:nvPr>
            <p:ph type="sldNum" sz="quarter" idx="5"/>
          </p:nvPr>
        </p:nvSpPr>
        <p:spPr/>
        <p:txBody>
          <a:bodyPr/>
          <a:lstStyle/>
          <a:p>
            <a:fld id="{C119E7F2-498D-45ED-A645-8BBCF90873D0}" type="slidenum">
              <a:rPr lang="en-US" smtClean="0"/>
              <a:t>13</a:t>
            </a:fld>
            <a:endParaRPr lang="en-US"/>
          </a:p>
        </p:txBody>
      </p:sp>
    </p:spTree>
    <p:extLst>
      <p:ext uri="{BB962C8B-B14F-4D97-AF65-F5344CB8AC3E}">
        <p14:creationId xmlns:p14="http://schemas.microsoft.com/office/powerpoint/2010/main" val="2343315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DF7F0-CC61-0DD1-055A-F106F796F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8D146-8DAE-35FF-57CD-485C703338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C9F5A-2EBC-AF4C-8320-5FFC89BA34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7B2B5C-B1F1-431B-640B-7BDB9E1A2D3E}"/>
              </a:ext>
            </a:extLst>
          </p:cNvPr>
          <p:cNvSpPr>
            <a:spLocks noGrp="1"/>
          </p:cNvSpPr>
          <p:nvPr>
            <p:ph type="sldNum" sz="quarter" idx="5"/>
          </p:nvPr>
        </p:nvSpPr>
        <p:spPr/>
        <p:txBody>
          <a:bodyPr/>
          <a:lstStyle/>
          <a:p>
            <a:fld id="{C119E7F2-498D-45ED-A645-8BBCF90873D0}" type="slidenum">
              <a:rPr lang="en-US" smtClean="0"/>
              <a:t>14</a:t>
            </a:fld>
            <a:endParaRPr lang="en-US"/>
          </a:p>
        </p:txBody>
      </p:sp>
    </p:spTree>
    <p:extLst>
      <p:ext uri="{BB962C8B-B14F-4D97-AF65-F5344CB8AC3E}">
        <p14:creationId xmlns:p14="http://schemas.microsoft.com/office/powerpoint/2010/main" val="3394732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29C80-4B9D-BEE6-6F02-16BB3B296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4E5FF-AE4F-40ED-4CAF-545950D88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433B1-8E56-3BA3-3A4D-10DE2621DB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C6A3AD-5EF2-3443-DE66-5A36B789700D}"/>
              </a:ext>
            </a:extLst>
          </p:cNvPr>
          <p:cNvSpPr>
            <a:spLocks noGrp="1"/>
          </p:cNvSpPr>
          <p:nvPr>
            <p:ph type="sldNum" sz="quarter" idx="5"/>
          </p:nvPr>
        </p:nvSpPr>
        <p:spPr/>
        <p:txBody>
          <a:bodyPr/>
          <a:lstStyle/>
          <a:p>
            <a:fld id="{C119E7F2-498D-45ED-A645-8BBCF90873D0}" type="slidenum">
              <a:rPr lang="en-US" smtClean="0"/>
              <a:t>15</a:t>
            </a:fld>
            <a:endParaRPr lang="en-US"/>
          </a:p>
        </p:txBody>
      </p:sp>
    </p:spTree>
    <p:extLst>
      <p:ext uri="{BB962C8B-B14F-4D97-AF65-F5344CB8AC3E}">
        <p14:creationId xmlns:p14="http://schemas.microsoft.com/office/powerpoint/2010/main" val="1502432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B207F-A8E3-9325-929A-4A86D8CD9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BE39E-C925-80AB-F0EB-D1B13A9EB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D590E-474B-8514-7CCF-C90687E4C6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E90650-2AB9-69F2-BF0E-63871A68208C}"/>
              </a:ext>
            </a:extLst>
          </p:cNvPr>
          <p:cNvSpPr>
            <a:spLocks noGrp="1"/>
          </p:cNvSpPr>
          <p:nvPr>
            <p:ph type="sldNum" sz="quarter" idx="5"/>
          </p:nvPr>
        </p:nvSpPr>
        <p:spPr/>
        <p:txBody>
          <a:bodyPr/>
          <a:lstStyle/>
          <a:p>
            <a:fld id="{C119E7F2-498D-45ED-A645-8BBCF90873D0}" type="slidenum">
              <a:rPr lang="en-US" smtClean="0"/>
              <a:t>16</a:t>
            </a:fld>
            <a:endParaRPr lang="en-US"/>
          </a:p>
        </p:txBody>
      </p:sp>
    </p:spTree>
    <p:extLst>
      <p:ext uri="{BB962C8B-B14F-4D97-AF65-F5344CB8AC3E}">
        <p14:creationId xmlns:p14="http://schemas.microsoft.com/office/powerpoint/2010/main" val="2535259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F3568-8D0F-12B2-1664-184786A5F8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056AF0-759A-A4E3-2645-C80D3FF382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1588D2-B229-8CAE-A88C-CEE86B58EC0E}"/>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5" name="Footer Placeholder 4">
            <a:extLst>
              <a:ext uri="{FF2B5EF4-FFF2-40B4-BE49-F238E27FC236}">
                <a16:creationId xmlns:a16="http://schemas.microsoft.com/office/drawing/2014/main" id="{62D36696-14B1-63FA-A611-C72414BCC8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ED547-75DA-E272-930D-FAA153520EC3}"/>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2474381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180D-165A-539F-988D-0EB996D766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EA583E-A70C-7C45-8107-25C7E2C5FD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E87647-B41E-A018-6CEB-6C853E55A547}"/>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5" name="Footer Placeholder 4">
            <a:extLst>
              <a:ext uri="{FF2B5EF4-FFF2-40B4-BE49-F238E27FC236}">
                <a16:creationId xmlns:a16="http://schemas.microsoft.com/office/drawing/2014/main" id="{FFFDC4F3-C258-6D8F-01A9-3B559F7EE7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E4EC3-6EA3-5F2C-BF6F-00173D929185}"/>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4225811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CAD91-10E8-66E0-7116-9E05A14B24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5B0959-42B9-D46F-59B5-8EF41EDB4C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8C846-102F-8D21-1D7E-B349A4D90E78}"/>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5" name="Footer Placeholder 4">
            <a:extLst>
              <a:ext uri="{FF2B5EF4-FFF2-40B4-BE49-F238E27FC236}">
                <a16:creationId xmlns:a16="http://schemas.microsoft.com/office/drawing/2014/main" id="{6F1C0D46-6E00-8B86-AA5B-0AA49D2974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CBCEF6-CB65-E675-117E-C1837C8B78FC}"/>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1212770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1314E-C1A4-C501-FD62-142E1A2F1A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ED04E6-196B-CCC6-593A-E188185E3C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F29BD0-3E57-15FB-FFFD-F18ADDF227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71CDF2-6F09-1192-8959-8DFAD7567F90}"/>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6" name="Footer Placeholder 5">
            <a:extLst>
              <a:ext uri="{FF2B5EF4-FFF2-40B4-BE49-F238E27FC236}">
                <a16:creationId xmlns:a16="http://schemas.microsoft.com/office/drawing/2014/main" id="{311510EF-83D8-3B5B-D87B-EFC9768EFA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FF709B-0354-9642-1667-3FBFE238B925}"/>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1060156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E57C-69F7-1F25-2E9C-A6CB47BDB6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221B58-BD95-4A45-FEDB-09DC4E5290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BFC855-12DA-9B64-F0D3-7271413418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E6AE8B-71E3-98AB-4E88-E3B24FB3C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E3E7E2-ECEE-C343-F56B-3CCCDB8323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E6F8F8-4BE8-8E34-4D70-75246A3EBF13}"/>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8" name="Footer Placeholder 7">
            <a:extLst>
              <a:ext uri="{FF2B5EF4-FFF2-40B4-BE49-F238E27FC236}">
                <a16:creationId xmlns:a16="http://schemas.microsoft.com/office/drawing/2014/main" id="{9CD66D3F-3415-1C84-186F-C52F0C25FD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3D3CBA-2B1A-1E6A-76D5-08243EC092E2}"/>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162361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DB644-DEE1-8B12-605A-A1929DCF3C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347B70-24FE-ADC5-853D-B46C4E87680F}"/>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4" name="Footer Placeholder 3">
            <a:extLst>
              <a:ext uri="{FF2B5EF4-FFF2-40B4-BE49-F238E27FC236}">
                <a16:creationId xmlns:a16="http://schemas.microsoft.com/office/drawing/2014/main" id="{41F42AAB-9E81-1CA9-87B8-C50FAD9CD7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41B612-CDFC-460B-C095-CD009700AFAB}"/>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1361528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355967-9097-746A-5201-CAC2D6BEBCED}"/>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3" name="Footer Placeholder 2">
            <a:extLst>
              <a:ext uri="{FF2B5EF4-FFF2-40B4-BE49-F238E27FC236}">
                <a16:creationId xmlns:a16="http://schemas.microsoft.com/office/drawing/2014/main" id="{BE7B7073-CC7D-DF49-AD4D-B30D6086A6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58D79B-6156-150F-4710-870E12AD0656}"/>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74530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27EA-73D5-43A3-9C2F-CE831A31D8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800DC7-AACA-CC89-1F98-C90DEE95C4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1064ED-7F16-9508-596A-84E98375BA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AE5497-1F50-B654-B8BE-9A8A124CEF76}"/>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6" name="Footer Placeholder 5">
            <a:extLst>
              <a:ext uri="{FF2B5EF4-FFF2-40B4-BE49-F238E27FC236}">
                <a16:creationId xmlns:a16="http://schemas.microsoft.com/office/drawing/2014/main" id="{EBE2BAAC-26CD-7B36-B591-C7DCA1CB83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C1AD99-36C2-36F5-758E-0C6F0B2E64C6}"/>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2825899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739EC-8833-DBBD-3203-B8CEA4192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5D6FCA-50E7-B653-9DFA-E0C4A0446E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8EFD06-2A7C-1C25-7DAD-0EDFC5E66D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078226-5CBA-7082-1BA0-E3B94005A987}"/>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6" name="Footer Placeholder 5">
            <a:extLst>
              <a:ext uri="{FF2B5EF4-FFF2-40B4-BE49-F238E27FC236}">
                <a16:creationId xmlns:a16="http://schemas.microsoft.com/office/drawing/2014/main" id="{3799CD9D-1154-F96C-0DCF-2D72F5E85F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55AC5-9DA2-3859-721C-0FD9546297EE}"/>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904745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5EB10-A5AA-D1BF-FF8F-04DE29308A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7B72D6-D168-0F0E-7C15-A513A1EE4D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11B1C5-B1F3-315A-28DE-59921770B617}"/>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5" name="Footer Placeholder 4">
            <a:extLst>
              <a:ext uri="{FF2B5EF4-FFF2-40B4-BE49-F238E27FC236}">
                <a16:creationId xmlns:a16="http://schemas.microsoft.com/office/drawing/2014/main" id="{F178FF44-D482-FBCC-6D7C-A560596708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A3FC32-CD8B-D3AE-F273-E8781644A74C}"/>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2062460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2F44A3-7622-2359-3959-8084367E32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8ADB2C-B6E9-3A9A-2942-7C7BB24904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D69660-2225-3721-0976-6AFC5F5AAAA0}"/>
              </a:ext>
            </a:extLst>
          </p:cNvPr>
          <p:cNvSpPr>
            <a:spLocks noGrp="1"/>
          </p:cNvSpPr>
          <p:nvPr>
            <p:ph type="dt" sz="half" idx="10"/>
          </p:nvPr>
        </p:nvSpPr>
        <p:spPr/>
        <p:txBody>
          <a:bodyPr/>
          <a:lstStyle/>
          <a:p>
            <a:fld id="{C198EE3F-C531-4F47-81BE-EB7857D8F039}" type="datetimeFigureOut">
              <a:rPr lang="en-US" smtClean="0"/>
              <a:t>4/8/2026</a:t>
            </a:fld>
            <a:endParaRPr lang="en-US"/>
          </a:p>
        </p:txBody>
      </p:sp>
      <p:sp>
        <p:nvSpPr>
          <p:cNvPr id="5" name="Footer Placeholder 4">
            <a:extLst>
              <a:ext uri="{FF2B5EF4-FFF2-40B4-BE49-F238E27FC236}">
                <a16:creationId xmlns:a16="http://schemas.microsoft.com/office/drawing/2014/main" id="{B452324C-9FFF-9ED9-CE19-0B2152EBC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10D2B-EBC7-CE7C-22B1-2CEEABC321FF}"/>
              </a:ext>
            </a:extLst>
          </p:cNvPr>
          <p:cNvSpPr>
            <a:spLocks noGrp="1"/>
          </p:cNvSpPr>
          <p:nvPr>
            <p:ph type="sldNum" sz="quarter" idx="12"/>
          </p:nvPr>
        </p:nvSpPr>
        <p:spPr/>
        <p:txBody>
          <a:bodyPr/>
          <a:lstStyle/>
          <a:p>
            <a:fld id="{1DE1F63E-44D9-46F9-A101-DE9709C851B9}" type="slidenum">
              <a:rPr lang="en-US" smtClean="0"/>
              <a:t>‹#›</a:t>
            </a:fld>
            <a:endParaRPr lang="en-US"/>
          </a:p>
        </p:txBody>
      </p:sp>
    </p:spTree>
    <p:extLst>
      <p:ext uri="{BB962C8B-B14F-4D97-AF65-F5344CB8AC3E}">
        <p14:creationId xmlns:p14="http://schemas.microsoft.com/office/powerpoint/2010/main" val="2905535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76CC29-6413-07E0-0F83-2F54ECF87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AF91D0-9C92-7385-25EA-22597435D3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2BB74F-46D8-03EF-2D51-64C4700BD8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98EE3F-C531-4F47-81BE-EB7857D8F039}" type="datetimeFigureOut">
              <a:rPr lang="en-US" smtClean="0"/>
              <a:t>4/8/2026</a:t>
            </a:fld>
            <a:endParaRPr lang="en-US"/>
          </a:p>
        </p:txBody>
      </p:sp>
      <p:sp>
        <p:nvSpPr>
          <p:cNvPr id="5" name="Footer Placeholder 4">
            <a:extLst>
              <a:ext uri="{FF2B5EF4-FFF2-40B4-BE49-F238E27FC236}">
                <a16:creationId xmlns:a16="http://schemas.microsoft.com/office/drawing/2014/main" id="{BD3BC302-2576-AF44-615A-AADF1B540C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AFD645-FDED-209E-23CB-CDA5522E1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E1F63E-44D9-46F9-A101-DE9709C851B9}" type="slidenum">
              <a:rPr lang="en-US" smtClean="0"/>
              <a:t>‹#›</a:t>
            </a:fld>
            <a:endParaRPr lang="en-US"/>
          </a:p>
        </p:txBody>
      </p:sp>
    </p:spTree>
    <p:extLst>
      <p:ext uri="{BB962C8B-B14F-4D97-AF65-F5344CB8AC3E}">
        <p14:creationId xmlns:p14="http://schemas.microsoft.com/office/powerpoint/2010/main" val="20357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D8AACB-CA4F-D599-14E0-02AA951B4E80}"/>
              </a:ext>
            </a:extLst>
          </p:cNvPr>
          <p:cNvPicPr/>
          <p:nvPr/>
        </p:nvPicPr>
        <p:blipFill>
          <a:blip r:embed="rId2"/>
          <a:stretch>
            <a:fillRect/>
          </a:stretch>
        </p:blipFill>
        <p:spPr>
          <a:xfrm>
            <a:off x="3286125" y="129223"/>
            <a:ext cx="5619750" cy="982980"/>
          </a:xfrm>
          <a:prstGeom prst="rect">
            <a:avLst/>
          </a:prstGeom>
        </p:spPr>
      </p:pic>
      <p:sp>
        <p:nvSpPr>
          <p:cNvPr id="4" name="TextBox 3">
            <a:extLst>
              <a:ext uri="{FF2B5EF4-FFF2-40B4-BE49-F238E27FC236}">
                <a16:creationId xmlns:a16="http://schemas.microsoft.com/office/drawing/2014/main" id="{A6C65C56-0737-6750-E644-CD750C5836DE}"/>
              </a:ext>
            </a:extLst>
          </p:cNvPr>
          <p:cNvSpPr txBox="1"/>
          <p:nvPr/>
        </p:nvSpPr>
        <p:spPr>
          <a:xfrm>
            <a:off x="76200" y="1465798"/>
            <a:ext cx="12039600" cy="5693866"/>
          </a:xfrm>
          <a:prstGeom prst="rect">
            <a:avLst/>
          </a:prstGeom>
          <a:noFill/>
        </p:spPr>
        <p:txBody>
          <a:bodyPr wrap="square">
            <a:spAutoFit/>
          </a:bodyPr>
          <a:lstStyle/>
          <a:p>
            <a:pPr algn="ctr"/>
            <a:r>
              <a:rPr lang="en-US" sz="2600" dirty="0">
                <a:latin typeface="Times New Roman" panose="02020603050405020304" pitchFamily="18" charset="0"/>
                <a:cs typeface="Times New Roman" panose="02020603050405020304" pitchFamily="18" charset="0"/>
              </a:rPr>
              <a:t>IBM Project Presentation</a:t>
            </a:r>
          </a:p>
          <a:p>
            <a:pPr algn="ctr"/>
            <a:r>
              <a:rPr lang="en-US" sz="2600" dirty="0">
                <a:latin typeface="Times New Roman" panose="02020603050405020304" pitchFamily="18" charset="0"/>
                <a:cs typeface="Times New Roman" panose="02020603050405020304" pitchFamily="18" charset="0"/>
              </a:rPr>
              <a:t>on</a:t>
            </a:r>
          </a:p>
          <a:p>
            <a:pPr algn="ctr"/>
            <a:r>
              <a:rPr lang="en-US" sz="2600" dirty="0">
                <a:latin typeface="Times New Roman" panose="02020603050405020304" pitchFamily="18" charset="0"/>
                <a:cs typeface="Times New Roman" panose="02020603050405020304" pitchFamily="18" charset="0"/>
              </a:rPr>
              <a:t>“Proactive Equipment Care using Analytics with Cloud - Cloud Integrated Analytics” </a:t>
            </a:r>
          </a:p>
          <a:p>
            <a:pPr algn="ctr"/>
            <a:r>
              <a:rPr lang="en-US" sz="2600" dirty="0">
                <a:latin typeface="Times New Roman" panose="02020603050405020304" pitchFamily="18" charset="0"/>
                <a:cs typeface="Times New Roman" panose="02020603050405020304" pitchFamily="18" charset="0"/>
              </a:rPr>
              <a:t>By </a:t>
            </a:r>
          </a:p>
          <a:p>
            <a:pPr algn="ctr"/>
            <a:r>
              <a:rPr lang="en-US" sz="2600" dirty="0">
                <a:latin typeface="Times New Roman" panose="02020603050405020304" pitchFamily="18" charset="0"/>
                <a:cs typeface="Times New Roman" panose="02020603050405020304" pitchFamily="18" charset="0"/>
              </a:rPr>
              <a:t>Group ID: G03</a:t>
            </a:r>
          </a:p>
          <a:p>
            <a:pPr algn="ctr"/>
            <a:r>
              <a:rPr lang="en-US" sz="2600" dirty="0">
                <a:latin typeface="Times New Roman" panose="02020603050405020304" pitchFamily="18" charset="0"/>
                <a:cs typeface="Times New Roman" panose="02020603050405020304" pitchFamily="18" charset="0"/>
              </a:rPr>
              <a:t>Team Members Name &amp; Enrollment No:</a:t>
            </a:r>
          </a:p>
          <a:p>
            <a:pPr algn="ctr"/>
            <a:r>
              <a:rPr lang="en-US" sz="2600" dirty="0">
                <a:latin typeface="Times New Roman" panose="02020603050405020304" pitchFamily="18" charset="0"/>
                <a:cs typeface="Times New Roman" panose="02020603050405020304" pitchFamily="18" charset="0"/>
              </a:rPr>
              <a:t>Patel Megh(22162121011)</a:t>
            </a:r>
          </a:p>
          <a:p>
            <a:pPr algn="ctr"/>
            <a:r>
              <a:rPr lang="en-US" sz="2600" dirty="0">
                <a:latin typeface="Times New Roman" panose="02020603050405020304" pitchFamily="18" charset="0"/>
                <a:cs typeface="Times New Roman" panose="02020603050405020304" pitchFamily="18" charset="0"/>
              </a:rPr>
              <a:t>Prajapati Pratham(22162171023)</a:t>
            </a:r>
          </a:p>
          <a:p>
            <a:pPr algn="ctr"/>
            <a:r>
              <a:rPr lang="en-US" sz="2600" dirty="0">
                <a:latin typeface="Times New Roman" panose="02020603050405020304" pitchFamily="18" charset="0"/>
                <a:cs typeface="Times New Roman" panose="02020603050405020304" pitchFamily="18" charset="0"/>
              </a:rPr>
              <a:t>Patel Tirth(22162101016)</a:t>
            </a:r>
          </a:p>
          <a:p>
            <a:pPr algn="ctr"/>
            <a:r>
              <a:rPr lang="en-US" sz="2600" dirty="0">
                <a:latin typeface="Times New Roman" panose="02020603050405020304" pitchFamily="18" charset="0"/>
                <a:cs typeface="Times New Roman" panose="02020603050405020304" pitchFamily="18" charset="0"/>
              </a:rPr>
              <a:t> Under The guidance of </a:t>
            </a:r>
          </a:p>
          <a:p>
            <a:pPr algn="ctr"/>
            <a:r>
              <a:rPr lang="en-US" sz="2600" dirty="0">
                <a:latin typeface="Times New Roman" panose="02020603050405020304" pitchFamily="18" charset="0"/>
                <a:cs typeface="Times New Roman" panose="02020603050405020304" pitchFamily="18" charset="0"/>
              </a:rPr>
              <a:t>Prof. Umesh </a:t>
            </a:r>
            <a:r>
              <a:rPr lang="en-US" sz="2600" dirty="0" err="1">
                <a:latin typeface="Times New Roman" panose="02020603050405020304" pitchFamily="18" charset="0"/>
                <a:cs typeface="Times New Roman" panose="02020603050405020304" pitchFamily="18" charset="0"/>
              </a:rPr>
              <a:t>Lakhtariya</a:t>
            </a:r>
            <a:r>
              <a:rPr lang="en-US" sz="2600" dirty="0">
                <a:latin typeface="Times New Roman" panose="02020603050405020304" pitchFamily="18" charset="0"/>
                <a:cs typeface="Times New Roman" panose="02020603050405020304" pitchFamily="18" charset="0"/>
              </a:rPr>
              <a:t> /Mr. Anoj Dixit</a:t>
            </a:r>
          </a:p>
          <a:p>
            <a:pPr algn="ctr"/>
            <a:r>
              <a:rPr lang="en-US" sz="2600" dirty="0">
                <a:latin typeface="Times New Roman" panose="02020603050405020304" pitchFamily="18" charset="0"/>
                <a:cs typeface="Times New Roman" panose="02020603050405020304" pitchFamily="18" charset="0"/>
              </a:rPr>
              <a:t>Institute Of Computer Technology, Ganpat University</a:t>
            </a:r>
          </a:p>
          <a:p>
            <a:pPr algn="ctr"/>
            <a:r>
              <a:rPr lang="en-US" sz="2600" dirty="0">
                <a:latin typeface="Times New Roman" panose="02020603050405020304" pitchFamily="18" charset="0"/>
                <a:cs typeface="Times New Roman" panose="02020603050405020304" pitchFamily="18" charset="0"/>
              </a:rPr>
              <a:t>Date:- 11</a:t>
            </a:r>
            <a:r>
              <a:rPr lang="en-US" sz="2600" baseline="30000" dirty="0">
                <a:latin typeface="Times New Roman" panose="02020603050405020304" pitchFamily="18" charset="0"/>
                <a:cs typeface="Times New Roman" panose="02020603050405020304" pitchFamily="18" charset="0"/>
              </a:rPr>
              <a:t>th</a:t>
            </a:r>
            <a:r>
              <a:rPr lang="en-US" sz="2600" dirty="0">
                <a:latin typeface="Times New Roman" panose="02020603050405020304" pitchFamily="18" charset="0"/>
                <a:cs typeface="Times New Roman" panose="02020603050405020304" pitchFamily="18" charset="0"/>
              </a:rPr>
              <a:t> April 2026</a:t>
            </a:r>
          </a:p>
          <a:p>
            <a:pPr algn="ct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904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04CF11-9991-8DF7-ADCE-F176A3D367CA}"/>
              </a:ext>
            </a:extLst>
          </p:cNvPr>
          <p:cNvSpPr txBox="1"/>
          <p:nvPr/>
        </p:nvSpPr>
        <p:spPr>
          <a:xfrm>
            <a:off x="388374" y="108155"/>
            <a:ext cx="11415251" cy="707886"/>
          </a:xfrm>
          <a:prstGeom prst="rect">
            <a:avLst/>
          </a:prstGeom>
          <a:noFill/>
        </p:spPr>
        <p:txBody>
          <a:bodyPr wrap="square" rtlCol="0">
            <a:spAutoFit/>
          </a:bodyPr>
          <a:lstStyle/>
          <a:p>
            <a:pPr algn="ctr"/>
            <a:r>
              <a:rPr lang="en-US" sz="4000" dirty="0"/>
              <a:t>Index Of Content</a:t>
            </a:r>
          </a:p>
        </p:txBody>
      </p:sp>
      <p:sp>
        <p:nvSpPr>
          <p:cNvPr id="3" name="TextBox 2">
            <a:extLst>
              <a:ext uri="{FF2B5EF4-FFF2-40B4-BE49-F238E27FC236}">
                <a16:creationId xmlns:a16="http://schemas.microsoft.com/office/drawing/2014/main" id="{2A0C54F4-5A2B-14F9-1FB2-644F9C2D3A9C}"/>
              </a:ext>
            </a:extLst>
          </p:cNvPr>
          <p:cNvSpPr txBox="1"/>
          <p:nvPr/>
        </p:nvSpPr>
        <p:spPr>
          <a:xfrm>
            <a:off x="388374" y="1484670"/>
            <a:ext cx="11724968" cy="5693866"/>
          </a:xfrm>
          <a:prstGeom prst="rect">
            <a:avLst/>
          </a:prstGeom>
          <a:noFill/>
        </p:spPr>
        <p:txBody>
          <a:bodyPr wrap="square" rtlCol="0">
            <a:spAutoFit/>
          </a:bodyPr>
          <a:lstStyle/>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Abstract</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Problem Statement </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Objectives</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Scope of the Project</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Workflow of Project</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ML Training Workflow</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System Architecture</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Technology Stack</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Module Description</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Advantages</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Limitations</a:t>
            </a:r>
          </a:p>
          <a:p>
            <a:pPr marL="285750" indent="-28575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470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657590-6701-F00D-6A01-F848739F61F0}"/>
              </a:ext>
            </a:extLst>
          </p:cNvPr>
          <p:cNvSpPr txBox="1"/>
          <p:nvPr/>
        </p:nvSpPr>
        <p:spPr>
          <a:xfrm>
            <a:off x="265471" y="196645"/>
            <a:ext cx="11661058" cy="523220"/>
          </a:xfrm>
          <a:prstGeom prst="rect">
            <a:avLst/>
          </a:prstGeom>
          <a:noFill/>
        </p:spPr>
        <p:txBody>
          <a:bodyPr wrap="square" rtlCol="0">
            <a:spAutoFit/>
          </a:bodyPr>
          <a:lstStyle/>
          <a:p>
            <a:r>
              <a:rPr lang="en-US" sz="2800" b="1" dirty="0"/>
              <a:t>Abstract</a:t>
            </a:r>
          </a:p>
        </p:txBody>
      </p:sp>
      <p:sp>
        <p:nvSpPr>
          <p:cNvPr id="3" name="TextBox 2">
            <a:extLst>
              <a:ext uri="{FF2B5EF4-FFF2-40B4-BE49-F238E27FC236}">
                <a16:creationId xmlns:a16="http://schemas.microsoft.com/office/drawing/2014/main" id="{7A88531B-8F38-D3C2-985F-88E10F40E1C1}"/>
              </a:ext>
            </a:extLst>
          </p:cNvPr>
          <p:cNvSpPr txBox="1"/>
          <p:nvPr/>
        </p:nvSpPr>
        <p:spPr>
          <a:xfrm>
            <a:off x="265471" y="792624"/>
            <a:ext cx="11661058" cy="2554545"/>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Proactive Equipment Care using Analytics with Cloud is a cloud-based intelligent maintenance system designed to predict equipment failures before they occur. </a:t>
            </a:r>
          </a:p>
          <a:p>
            <a:pPr marL="342900" indent="-342900" algn="just">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Traditional maintenance approaches are reactive, leading to unexpected downtime and high repair costs. This system integrates data analytics, machine learning, and cloud computing to monitor equipment health in real-time. </a:t>
            </a:r>
          </a:p>
          <a:p>
            <a:pPr marL="342900" indent="-342900" algn="just">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Motor data is processed and analyzed to detect patterns and anomalies. </a:t>
            </a:r>
          </a:p>
          <a:p>
            <a:pPr marL="342900" indent="-342900" algn="just">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The ML model predicts potential failures, enabling preventive maintenance. </a:t>
            </a:r>
          </a:p>
          <a:p>
            <a:pPr marL="342900" indent="-342900" algn="just">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The solution improves operational efficiency, reduces downtime, and enhances equipment lifespan.</a:t>
            </a:r>
          </a:p>
        </p:txBody>
      </p:sp>
    </p:spTree>
    <p:extLst>
      <p:ext uri="{BB962C8B-B14F-4D97-AF65-F5344CB8AC3E}">
        <p14:creationId xmlns:p14="http://schemas.microsoft.com/office/powerpoint/2010/main" val="3092872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657590-6701-F00D-6A01-F848739F61F0}"/>
              </a:ext>
            </a:extLst>
          </p:cNvPr>
          <p:cNvSpPr txBox="1"/>
          <p:nvPr/>
        </p:nvSpPr>
        <p:spPr>
          <a:xfrm>
            <a:off x="265471" y="196645"/>
            <a:ext cx="11661058" cy="523220"/>
          </a:xfrm>
          <a:prstGeom prst="rect">
            <a:avLst/>
          </a:prstGeom>
          <a:noFill/>
        </p:spPr>
        <p:txBody>
          <a:bodyPr wrap="square" rtlCol="0">
            <a:spAutoFit/>
          </a:bodyPr>
          <a:lstStyle/>
          <a:p>
            <a:r>
              <a:rPr lang="en-US" sz="2800" b="1" dirty="0"/>
              <a:t>Problem Statement </a:t>
            </a:r>
          </a:p>
        </p:txBody>
      </p:sp>
      <p:sp>
        <p:nvSpPr>
          <p:cNvPr id="3" name="TextBox 2">
            <a:extLst>
              <a:ext uri="{FF2B5EF4-FFF2-40B4-BE49-F238E27FC236}">
                <a16:creationId xmlns:a16="http://schemas.microsoft.com/office/drawing/2014/main" id="{7A88531B-8F38-D3C2-985F-88E10F40E1C1}"/>
              </a:ext>
            </a:extLst>
          </p:cNvPr>
          <p:cNvSpPr txBox="1"/>
          <p:nvPr/>
        </p:nvSpPr>
        <p:spPr>
          <a:xfrm>
            <a:off x="265471" y="792624"/>
            <a:ext cx="11661058" cy="3785652"/>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Industries rely heavily on reactive maintenance strategies, where equipment is repaired only after failure occurs. This leads to:</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 Flaws of Reactive Maintenance: Heavy reliance on traditional maintenance—repairing equipment only after it fails—results in unexpected breakdowns, significant production losses, high repair costs, and increased safety risks.</a:t>
            </a:r>
          </a:p>
          <a:p>
            <a:pPr marL="342900" indent="-34290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Operational Bottlenecks Without Analytics: The absence of intelligent analytics makes it extremely difficult for industries to optimize their maintenance planning, efficiently allocate resources, and manage spare parts effectively.</a:t>
            </a:r>
          </a:p>
          <a:p>
            <a:pPr marL="342900" indent="-34290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 Need for Proactive Systems: To prevent unexpected failures, industries require a smart system powered by cloud computing and analytics to continuously monitor equipment health and anticipate issues early.</a:t>
            </a:r>
          </a:p>
        </p:txBody>
      </p:sp>
      <p:sp>
        <p:nvSpPr>
          <p:cNvPr id="4" name="TextBox 3">
            <a:extLst>
              <a:ext uri="{FF2B5EF4-FFF2-40B4-BE49-F238E27FC236}">
                <a16:creationId xmlns:a16="http://schemas.microsoft.com/office/drawing/2014/main" id="{B89897FB-4374-03CD-17F5-C0776814129B}"/>
              </a:ext>
            </a:extLst>
          </p:cNvPr>
          <p:cNvSpPr txBox="1"/>
          <p:nvPr/>
        </p:nvSpPr>
        <p:spPr>
          <a:xfrm>
            <a:off x="265471" y="4807974"/>
            <a:ext cx="11661058" cy="1015663"/>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Solution:- There is a need for an intelligent cloud-based system that can predict equipment failures before they happen.</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7095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2D124-6C74-A439-EEE3-91DB173C13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FB66D7-E44A-359E-D3F9-66A35AFC7EDE}"/>
              </a:ext>
            </a:extLst>
          </p:cNvPr>
          <p:cNvSpPr txBox="1"/>
          <p:nvPr/>
        </p:nvSpPr>
        <p:spPr>
          <a:xfrm>
            <a:off x="265471" y="196645"/>
            <a:ext cx="11661058" cy="523220"/>
          </a:xfrm>
          <a:prstGeom prst="rect">
            <a:avLst/>
          </a:prstGeom>
          <a:noFill/>
        </p:spPr>
        <p:txBody>
          <a:bodyPr wrap="square" rtlCol="0">
            <a:spAutoFit/>
          </a:bodyPr>
          <a:lstStyle/>
          <a:p>
            <a:r>
              <a:rPr lang="en-US" sz="2800" b="1" dirty="0"/>
              <a:t>Objectives</a:t>
            </a:r>
          </a:p>
        </p:txBody>
      </p:sp>
      <p:sp>
        <p:nvSpPr>
          <p:cNvPr id="3" name="TextBox 2">
            <a:extLst>
              <a:ext uri="{FF2B5EF4-FFF2-40B4-BE49-F238E27FC236}">
                <a16:creationId xmlns:a16="http://schemas.microsoft.com/office/drawing/2014/main" id="{E952F9B2-DD33-D195-ECD5-0FE67EDE3B16}"/>
              </a:ext>
            </a:extLst>
          </p:cNvPr>
          <p:cNvSpPr txBox="1"/>
          <p:nvPr/>
        </p:nvSpPr>
        <p:spPr>
          <a:xfrm>
            <a:off x="265471" y="792624"/>
            <a:ext cx="11661058" cy="3139321"/>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Secure Data Collection &amp; Cloud Infrastructure: Develop a secure, cloud-based platform to continuously collect, process, and store vital equipment data (such as temperature, vibration, and load) for remote, real-time health monitoring.</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Predictive Analytics &amp; Machine Learning: Apply advanced machine learning algorithms to analyze operational data, extract meaningful insights, and identify early warning signs to predict and prevent unexpected failures.</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Real-Time Visualization: Deliver an intuitive, real-time dashboard that visually represents equipment status, predictive alerts, and historical trends to facilitate rapid, data-driven decision-making.</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Proactive Maintenance &amp; Cost Reduction: Transition from reactive repairs to a proactive, predictive maintenance strategy, significantly reducing unexpected operational downtime and long-term maintenance costs.</a:t>
            </a:r>
          </a:p>
        </p:txBody>
      </p:sp>
    </p:spTree>
    <p:extLst>
      <p:ext uri="{BB962C8B-B14F-4D97-AF65-F5344CB8AC3E}">
        <p14:creationId xmlns:p14="http://schemas.microsoft.com/office/powerpoint/2010/main" val="2962578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BBD08-118B-D808-84A6-480DFA3517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8AEFDA-3744-BC67-062F-841E59E528C8}"/>
              </a:ext>
            </a:extLst>
          </p:cNvPr>
          <p:cNvSpPr txBox="1"/>
          <p:nvPr/>
        </p:nvSpPr>
        <p:spPr>
          <a:xfrm>
            <a:off x="265471" y="196645"/>
            <a:ext cx="11661058" cy="523220"/>
          </a:xfrm>
          <a:prstGeom prst="rect">
            <a:avLst/>
          </a:prstGeom>
          <a:noFill/>
        </p:spPr>
        <p:txBody>
          <a:bodyPr wrap="square" rtlCol="0">
            <a:spAutoFit/>
          </a:bodyPr>
          <a:lstStyle/>
          <a:p>
            <a:r>
              <a:rPr lang="en-US" sz="2800" b="1" dirty="0"/>
              <a:t>Scope</a:t>
            </a:r>
          </a:p>
        </p:txBody>
      </p:sp>
      <p:sp>
        <p:nvSpPr>
          <p:cNvPr id="3" name="TextBox 2">
            <a:extLst>
              <a:ext uri="{FF2B5EF4-FFF2-40B4-BE49-F238E27FC236}">
                <a16:creationId xmlns:a16="http://schemas.microsoft.com/office/drawing/2014/main" id="{0B0E6B92-D475-4F9C-7689-CFDB58CF5EA8}"/>
              </a:ext>
            </a:extLst>
          </p:cNvPr>
          <p:cNvSpPr txBox="1"/>
          <p:nvPr/>
        </p:nvSpPr>
        <p:spPr>
          <a:xfrm>
            <a:off x="265471" y="792624"/>
            <a:ext cx="11661058" cy="4708981"/>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Our idea will Help in:</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Real-Time IoT Monitoring &amp; Data Collection: Integrate smart sensors and industrial IoT devices to continuously track vital operational parameters—such as temperature, vibration, and load—in real time.</a:t>
            </a:r>
          </a:p>
          <a:p>
            <a:pPr marL="342900" indent="-34290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Scalable Cloud Architecture &amp; Remote Access: Leverage cloud deployment to efficiently manage increasing data volumes and multiple equipment units, allowing users to monitor systems and access predictions remotely from any location.</a:t>
            </a:r>
          </a:p>
          <a:p>
            <a:pPr marL="342900" indent="-34290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Predictive Analytics &amp; Proactive Decision-Making: Utilize data-driven models to analyze equipment patterns, detect early warning signs, and predict failures before they occur, empowering maintenance teams with faster, proactive decision-making.</a:t>
            </a:r>
          </a:p>
          <a:p>
            <a:pPr marL="342900" indent="-342900"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Cross-Industry Application &amp; Risk Mitigation: Implement the system across manufacturing, power plants, and heavy machinery environments to maintain continuous productivity, support preventive maintenance, and reduce overall operational risks.</a:t>
            </a:r>
          </a:p>
        </p:txBody>
      </p:sp>
    </p:spTree>
    <p:extLst>
      <p:ext uri="{BB962C8B-B14F-4D97-AF65-F5344CB8AC3E}">
        <p14:creationId xmlns:p14="http://schemas.microsoft.com/office/powerpoint/2010/main" val="2223534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0EBB8-2C16-F9AF-DC28-A92064C0BA7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35DC7D-8465-FFE9-C68C-B7E2740F495F}"/>
              </a:ext>
            </a:extLst>
          </p:cNvPr>
          <p:cNvSpPr txBox="1"/>
          <p:nvPr/>
        </p:nvSpPr>
        <p:spPr>
          <a:xfrm>
            <a:off x="265471" y="196645"/>
            <a:ext cx="11661058" cy="523220"/>
          </a:xfrm>
          <a:prstGeom prst="rect">
            <a:avLst/>
          </a:prstGeom>
          <a:noFill/>
        </p:spPr>
        <p:txBody>
          <a:bodyPr wrap="square" rtlCol="0">
            <a:spAutoFit/>
          </a:bodyPr>
          <a:lstStyle/>
          <a:p>
            <a:r>
              <a:rPr lang="en-US" sz="2800" b="1" dirty="0"/>
              <a:t>Workflow Of Project</a:t>
            </a:r>
          </a:p>
        </p:txBody>
      </p:sp>
      <p:pic>
        <p:nvPicPr>
          <p:cNvPr id="5" name="Picture 4">
            <a:extLst>
              <a:ext uri="{FF2B5EF4-FFF2-40B4-BE49-F238E27FC236}">
                <a16:creationId xmlns:a16="http://schemas.microsoft.com/office/drawing/2014/main" id="{6EDA66CB-0C4B-8248-C53C-B30B5F3FE7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5601" y="801145"/>
            <a:ext cx="9326880" cy="5765491"/>
          </a:xfrm>
          <a:prstGeom prst="rect">
            <a:avLst/>
          </a:prstGeom>
        </p:spPr>
      </p:pic>
    </p:spTree>
    <p:extLst>
      <p:ext uri="{BB962C8B-B14F-4D97-AF65-F5344CB8AC3E}">
        <p14:creationId xmlns:p14="http://schemas.microsoft.com/office/powerpoint/2010/main" val="704875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1CC0B-9258-E5EB-A4FE-030703478C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16B366-2F18-28D7-251A-3DFE8671EF7B}"/>
              </a:ext>
            </a:extLst>
          </p:cNvPr>
          <p:cNvSpPr txBox="1"/>
          <p:nvPr/>
        </p:nvSpPr>
        <p:spPr>
          <a:xfrm>
            <a:off x="265471" y="226142"/>
            <a:ext cx="11661058"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ML Training Workflow</a:t>
            </a:r>
          </a:p>
        </p:txBody>
      </p:sp>
      <p:pic>
        <p:nvPicPr>
          <p:cNvPr id="9" name="Picture 8">
            <a:extLst>
              <a:ext uri="{FF2B5EF4-FFF2-40B4-BE49-F238E27FC236}">
                <a16:creationId xmlns:a16="http://schemas.microsoft.com/office/drawing/2014/main" id="{D7B6A86F-FFA2-F668-D8F8-EBCB383DD6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942" y="1071716"/>
            <a:ext cx="10618839" cy="5171768"/>
          </a:xfrm>
          <a:prstGeom prst="rect">
            <a:avLst/>
          </a:prstGeom>
        </p:spPr>
      </p:pic>
    </p:spTree>
    <p:extLst>
      <p:ext uri="{BB962C8B-B14F-4D97-AF65-F5344CB8AC3E}">
        <p14:creationId xmlns:p14="http://schemas.microsoft.com/office/powerpoint/2010/main" val="1850673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CE408-454F-0B20-DB97-ABA11623DA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AE2732-D274-0068-88B3-6643BA113CD9}"/>
              </a:ext>
            </a:extLst>
          </p:cNvPr>
          <p:cNvSpPr txBox="1"/>
          <p:nvPr/>
        </p:nvSpPr>
        <p:spPr>
          <a:xfrm>
            <a:off x="265471" y="127819"/>
            <a:ext cx="11661058" cy="523220"/>
          </a:xfrm>
          <a:prstGeom prst="rect">
            <a:avLst/>
          </a:prstGeom>
          <a:noFill/>
        </p:spPr>
        <p:txBody>
          <a:bodyPr wrap="square" rtlCol="0">
            <a:spAutoFit/>
          </a:bodyPr>
          <a:lstStyle/>
          <a:p>
            <a:r>
              <a:rPr lang="en-US" sz="2800" b="1" dirty="0"/>
              <a:t>System Architecture </a:t>
            </a:r>
          </a:p>
        </p:txBody>
      </p:sp>
      <p:pic>
        <p:nvPicPr>
          <p:cNvPr id="4" name="Picture 3">
            <a:extLst>
              <a:ext uri="{FF2B5EF4-FFF2-40B4-BE49-F238E27FC236}">
                <a16:creationId xmlns:a16="http://schemas.microsoft.com/office/drawing/2014/main" id="{A1C2600D-2D0E-930A-0E24-ADF6F0FC34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1716" y="540774"/>
            <a:ext cx="8701550" cy="6317226"/>
          </a:xfrm>
          <a:prstGeom prst="rect">
            <a:avLst/>
          </a:prstGeom>
        </p:spPr>
      </p:pic>
    </p:spTree>
    <p:extLst>
      <p:ext uri="{BB962C8B-B14F-4D97-AF65-F5344CB8AC3E}">
        <p14:creationId xmlns:p14="http://schemas.microsoft.com/office/powerpoint/2010/main" val="2289485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EB1FF-0DEE-8E69-16D6-27C30FC7E2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D3DFF1-6C8E-4E00-38A6-15526C8A1849}"/>
              </a:ext>
            </a:extLst>
          </p:cNvPr>
          <p:cNvSpPr txBox="1"/>
          <p:nvPr/>
        </p:nvSpPr>
        <p:spPr>
          <a:xfrm>
            <a:off x="265471" y="196645"/>
            <a:ext cx="11661058" cy="523220"/>
          </a:xfrm>
          <a:prstGeom prst="rect">
            <a:avLst/>
          </a:prstGeom>
          <a:noFill/>
        </p:spPr>
        <p:txBody>
          <a:bodyPr wrap="square" rtlCol="0">
            <a:spAutoFit/>
          </a:bodyPr>
          <a:lstStyle/>
          <a:p>
            <a:r>
              <a:rPr lang="en-US" sz="2800" b="1" dirty="0"/>
              <a:t>Technology Stack</a:t>
            </a:r>
          </a:p>
        </p:txBody>
      </p:sp>
      <p:sp>
        <p:nvSpPr>
          <p:cNvPr id="3" name="TextBox 2">
            <a:extLst>
              <a:ext uri="{FF2B5EF4-FFF2-40B4-BE49-F238E27FC236}">
                <a16:creationId xmlns:a16="http://schemas.microsoft.com/office/drawing/2014/main" id="{2A5B6ED7-B1C6-1D1F-0557-5F2E56CBFCB9}"/>
              </a:ext>
            </a:extLst>
          </p:cNvPr>
          <p:cNvSpPr txBox="1"/>
          <p:nvPr/>
        </p:nvSpPr>
        <p:spPr>
          <a:xfrm>
            <a:off x="265471" y="792624"/>
            <a:ext cx="11661058" cy="6647974"/>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Programming Language</a:t>
            </a:r>
          </a:p>
          <a:p>
            <a:pPr marL="342900" indent="-342900">
              <a:buFont typeface="Wingdings" panose="05000000000000000000" pitchFamily="2" charset="2"/>
              <a:buChar char="ü"/>
            </a:pPr>
            <a:r>
              <a:rPr lang="en-US" sz="2000" dirty="0"/>
              <a:t>Python 3.9+</a:t>
            </a: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Backend Development</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Flask (Web Framework)</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Flask-CORS</a:t>
            </a:r>
          </a:p>
          <a:p>
            <a:pPr marL="342900" indent="-342900">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dotenv</a:t>
            </a:r>
            <a:r>
              <a:rPr lang="en-US" sz="2000" dirty="0">
                <a:latin typeface="Times New Roman" panose="02020603050405020304" pitchFamily="18" charset="0"/>
                <a:cs typeface="Times New Roman" panose="02020603050405020304" pitchFamily="18" charset="0"/>
              </a:rPr>
              <a:t> (Environment variable management)</a:t>
            </a:r>
          </a:p>
          <a:p>
            <a:pPr marL="342900" indent="-342900">
              <a:buFont typeface="Wingdings" panose="05000000000000000000" pitchFamily="2" charset="2"/>
              <a:buChar char="ü"/>
            </a:pPr>
            <a:r>
              <a:rPr lang="en-US" dirty="0" err="1">
                <a:latin typeface="Times New Roman" panose="02020603050405020304" pitchFamily="18" charset="0"/>
                <a:cs typeface="Times New Roman" panose="02020603050405020304" pitchFamily="18" charset="0"/>
              </a:rPr>
              <a:t>Werkzeug</a:t>
            </a:r>
            <a:r>
              <a:rPr lang="en-US"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Requests </a:t>
            </a:r>
          </a:p>
          <a:p>
            <a:pPr marL="342900" indent="-342900">
              <a:buFont typeface="Wingdings" panose="05000000000000000000" pitchFamily="2" charset="2"/>
              <a:buChar char="ü"/>
            </a:pPr>
            <a:r>
              <a:rPr lang="en-US" dirty="0" err="1">
                <a:latin typeface="Times New Roman" panose="02020603050405020304" pitchFamily="18" charset="0"/>
                <a:cs typeface="Times New Roman" panose="02020603050405020304" pitchFamily="18" charset="0"/>
              </a:rPr>
              <a:t>bcrypt</a:t>
            </a: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dirty="0" err="1">
                <a:latin typeface="Times New Roman" panose="02020603050405020304" pitchFamily="18" charset="0"/>
                <a:cs typeface="Times New Roman" panose="02020603050405020304" pitchFamily="18" charset="0"/>
              </a:rPr>
              <a:t>joblib</a:t>
            </a:r>
            <a:r>
              <a:rPr lang="en-US"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ü"/>
            </a:pPr>
            <a:r>
              <a:rPr lang="en-US" dirty="0" err="1">
                <a:latin typeface="Times New Roman" panose="02020603050405020304" pitchFamily="18" charset="0"/>
                <a:cs typeface="Times New Roman" panose="02020603050405020304" pitchFamily="18" charset="0"/>
              </a:rPr>
              <a:t>smtplib</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ssl</a:t>
            </a:r>
            <a:r>
              <a:rPr lang="en-US"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SMTP / Gmail</a:t>
            </a:r>
          </a:p>
          <a:p>
            <a:pPr marL="342900" indent="-342900">
              <a:buFont typeface="Wingdings" panose="05000000000000000000" pitchFamily="2" charset="2"/>
              <a:buChar char="ü"/>
            </a:pPr>
            <a:endParaRPr lang="en-US" b="1" dirty="0"/>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Machine Learning &amp; Deep Learning</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TensorFlow</a:t>
            </a:r>
          </a:p>
          <a:p>
            <a:pPr marL="342900" indent="-342900">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KerasLSTM</a:t>
            </a:r>
            <a:r>
              <a:rPr lang="en-US" sz="2000" dirty="0">
                <a:latin typeface="Times New Roman" panose="02020603050405020304" pitchFamily="18" charset="0"/>
                <a:cs typeface="Times New Roman" panose="02020603050405020304" pitchFamily="18" charset="0"/>
              </a:rPr>
              <a:t> (Long Short-Term Memory Neural Network)</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Scikit-learn</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SMOTE (for class imbalance handling)</a:t>
            </a: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2911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DE268-9F6D-A81F-5378-7FA45AA68F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53F026-F5DB-DDE2-43F2-F834CBE92A42}"/>
              </a:ext>
            </a:extLst>
          </p:cNvPr>
          <p:cNvSpPr txBox="1"/>
          <p:nvPr/>
        </p:nvSpPr>
        <p:spPr>
          <a:xfrm>
            <a:off x="265471" y="196645"/>
            <a:ext cx="11661058" cy="523220"/>
          </a:xfrm>
          <a:prstGeom prst="rect">
            <a:avLst/>
          </a:prstGeom>
          <a:noFill/>
        </p:spPr>
        <p:txBody>
          <a:bodyPr wrap="square" rtlCol="0">
            <a:spAutoFit/>
          </a:bodyPr>
          <a:lstStyle/>
          <a:p>
            <a:r>
              <a:rPr lang="en-US" sz="2800" b="1" dirty="0"/>
              <a:t>Technology Stack</a:t>
            </a:r>
          </a:p>
        </p:txBody>
      </p:sp>
      <p:sp>
        <p:nvSpPr>
          <p:cNvPr id="3" name="TextBox 2">
            <a:extLst>
              <a:ext uri="{FF2B5EF4-FFF2-40B4-BE49-F238E27FC236}">
                <a16:creationId xmlns:a16="http://schemas.microsoft.com/office/drawing/2014/main" id="{565F52EF-E9A8-F732-260A-5D982A1CF5E3}"/>
              </a:ext>
            </a:extLst>
          </p:cNvPr>
          <p:cNvSpPr txBox="1"/>
          <p:nvPr/>
        </p:nvSpPr>
        <p:spPr>
          <a:xfrm>
            <a:off x="265470" y="2563818"/>
            <a:ext cx="11661058" cy="4093428"/>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 Processing &amp; Analysis</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Pandas</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NumPy</a:t>
            </a:r>
          </a:p>
          <a:p>
            <a:pPr marL="342900" indent="-342900">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Jupyter</a:t>
            </a:r>
            <a:r>
              <a:rPr lang="en-US" sz="2000" dirty="0">
                <a:latin typeface="Times New Roman" panose="02020603050405020304" pitchFamily="18" charset="0"/>
                <a:cs typeface="Times New Roman" panose="02020603050405020304" pitchFamily="18" charset="0"/>
              </a:rPr>
              <a:t> Notebook</a:t>
            </a: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Frontend Development</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HTML</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CSS</a:t>
            </a:r>
          </a:p>
          <a:p>
            <a:pPr marL="342900" indent="-342900">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Javascript</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Visualization</a:t>
            </a:r>
          </a:p>
          <a:p>
            <a:pPr marL="342900" indent="-342900">
              <a:buFont typeface="Wingdings" panose="05000000000000000000" pitchFamily="2" charset="2"/>
              <a:buChar char="ü"/>
            </a:pPr>
            <a:r>
              <a:rPr lang="en-US" sz="2000" dirty="0"/>
              <a:t>Tableau Public</a:t>
            </a:r>
          </a:p>
          <a:p>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375B4EA-9D8E-1A99-132E-87A8629B9F85}"/>
              </a:ext>
            </a:extLst>
          </p:cNvPr>
          <p:cNvSpPr txBox="1"/>
          <p:nvPr/>
        </p:nvSpPr>
        <p:spPr>
          <a:xfrm>
            <a:off x="265470" y="815048"/>
            <a:ext cx="11661058" cy="707886"/>
          </a:xfrm>
          <a:prstGeom prst="rect">
            <a:avLst/>
          </a:prstGeom>
          <a:noFill/>
        </p:spPr>
        <p:txBody>
          <a:bodyPr wrap="square" rtlCol="0">
            <a:spAutoFit/>
          </a:bodyPr>
          <a:lstStyle/>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Cloud &amp; Database</a:t>
            </a:r>
          </a:p>
          <a:p>
            <a:pPr marL="342900" indent="-342900">
              <a:buFont typeface="Wingdings" panose="05000000000000000000" pitchFamily="2" charset="2"/>
              <a:buChar char="ü"/>
            </a:pPr>
            <a:r>
              <a:rPr lang="en-US" sz="2000" dirty="0" err="1"/>
              <a:t>Supabase</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276B693-3FB5-31F7-B40B-15F91AF78375}"/>
              </a:ext>
            </a:extLst>
          </p:cNvPr>
          <p:cNvSpPr txBox="1"/>
          <p:nvPr/>
        </p:nvSpPr>
        <p:spPr>
          <a:xfrm>
            <a:off x="648929" y="1522934"/>
            <a:ext cx="11277599" cy="923330"/>
          </a:xfrm>
          <a:prstGeom prst="rect">
            <a:avLst/>
          </a:prstGeom>
          <a:noFill/>
        </p:spPr>
        <p:txBody>
          <a:bodyPr wrap="square" rtlCol="0">
            <a:spAutoFit/>
          </a:bodyPr>
          <a:lstStyle/>
          <a:p>
            <a:pPr marL="285750" indent="-285750">
              <a:buFont typeface="Arial" panose="020B0604020202020204" pitchFamily="34" charset="0"/>
              <a:buChar char="•"/>
            </a:pPr>
            <a:r>
              <a:rPr lang="en-US" dirty="0" err="1"/>
              <a:t>Supabase</a:t>
            </a:r>
            <a:r>
              <a:rPr lang="en-US" dirty="0"/>
              <a:t> PostgreSQL (Database)</a:t>
            </a:r>
          </a:p>
          <a:p>
            <a:pPr marL="285750" indent="-285750">
              <a:buFont typeface="Arial" panose="020B0604020202020204" pitchFamily="34" charset="0"/>
              <a:buChar char="•"/>
            </a:pPr>
            <a:r>
              <a:rPr lang="en-US" dirty="0" err="1"/>
              <a:t>Supabase</a:t>
            </a:r>
            <a:r>
              <a:rPr lang="en-US" dirty="0"/>
              <a:t> Storage (Cloud Storage)</a:t>
            </a:r>
          </a:p>
          <a:p>
            <a:pPr marL="285750" indent="-285750">
              <a:buFont typeface="Arial" panose="020B0604020202020204" pitchFamily="34" charset="0"/>
              <a:buChar char="•"/>
            </a:pPr>
            <a:r>
              <a:rPr lang="en-US" dirty="0" err="1"/>
              <a:t>Supabase</a:t>
            </a:r>
            <a:r>
              <a:rPr lang="en-US" dirty="0"/>
              <a:t> Auth (Authentication)</a:t>
            </a:r>
          </a:p>
        </p:txBody>
      </p:sp>
    </p:spTree>
    <p:extLst>
      <p:ext uri="{BB962C8B-B14F-4D97-AF65-F5344CB8AC3E}">
        <p14:creationId xmlns:p14="http://schemas.microsoft.com/office/powerpoint/2010/main" val="3005237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8B785-70A1-FE73-7CB4-D80FEBDF64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F204D3-8311-111B-B37A-C77025B300C5}"/>
              </a:ext>
            </a:extLst>
          </p:cNvPr>
          <p:cNvSpPr txBox="1"/>
          <p:nvPr/>
        </p:nvSpPr>
        <p:spPr>
          <a:xfrm>
            <a:off x="265471" y="196645"/>
            <a:ext cx="11661058" cy="523220"/>
          </a:xfrm>
          <a:prstGeom prst="rect">
            <a:avLst/>
          </a:prstGeom>
          <a:noFill/>
        </p:spPr>
        <p:txBody>
          <a:bodyPr wrap="square" rtlCol="0">
            <a:spAutoFit/>
          </a:bodyPr>
          <a:lstStyle/>
          <a:p>
            <a:r>
              <a:rPr lang="en-US" sz="2800" b="1" dirty="0"/>
              <a:t>Technology Stack</a:t>
            </a:r>
          </a:p>
        </p:txBody>
      </p:sp>
      <p:sp>
        <p:nvSpPr>
          <p:cNvPr id="3" name="TextBox 2">
            <a:extLst>
              <a:ext uri="{FF2B5EF4-FFF2-40B4-BE49-F238E27FC236}">
                <a16:creationId xmlns:a16="http://schemas.microsoft.com/office/drawing/2014/main" id="{3217FF82-EC34-378F-BF4D-20907721855C}"/>
              </a:ext>
            </a:extLst>
          </p:cNvPr>
          <p:cNvSpPr txBox="1"/>
          <p:nvPr/>
        </p:nvSpPr>
        <p:spPr>
          <a:xfrm>
            <a:off x="265470" y="815048"/>
            <a:ext cx="11661058" cy="2246769"/>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Version Control</a:t>
            </a: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Git</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Development Tools</a:t>
            </a:r>
            <a:endParaRPr lang="en-US" sz="2000" b="1" dirty="0"/>
          </a:p>
          <a:p>
            <a:pPr marL="342900" indent="-342900">
              <a:buFont typeface="Wingdings" panose="05000000000000000000" pitchFamily="2" charset="2"/>
              <a:buChar char="ü"/>
            </a:pPr>
            <a:r>
              <a:rPr lang="en-US" sz="2000" dirty="0"/>
              <a:t>VS Code</a:t>
            </a:r>
          </a:p>
          <a:p>
            <a:pPr marL="342900" indent="-342900">
              <a:buFont typeface="Wingdings" panose="05000000000000000000" pitchFamily="2" charset="2"/>
              <a:buChar char="ü"/>
            </a:pPr>
            <a:r>
              <a:rPr lang="en-US" sz="2000" dirty="0" err="1"/>
              <a:t>Jupyter</a:t>
            </a:r>
            <a:r>
              <a:rPr lang="en-US" sz="2000" dirty="0"/>
              <a:t> Notebook</a:t>
            </a:r>
          </a:p>
          <a:p>
            <a:pPr marL="342900" indent="-342900">
              <a:buFont typeface="Wingdings" panose="05000000000000000000" pitchFamily="2" charset="2"/>
              <a:buChar char="Ø"/>
            </a:pPr>
            <a:endParaRPr lang="en-US" sz="2000" dirty="0"/>
          </a:p>
        </p:txBody>
      </p:sp>
    </p:spTree>
    <p:extLst>
      <p:ext uri="{BB962C8B-B14F-4D97-AF65-F5344CB8AC3E}">
        <p14:creationId xmlns:p14="http://schemas.microsoft.com/office/powerpoint/2010/main" val="4500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3F5B6-0A81-ED91-3840-230D805A76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6E4168-7AB3-32F7-B0A5-8167AA6C64EA}"/>
              </a:ext>
            </a:extLst>
          </p:cNvPr>
          <p:cNvSpPr txBox="1"/>
          <p:nvPr/>
        </p:nvSpPr>
        <p:spPr>
          <a:xfrm>
            <a:off x="265471" y="196645"/>
            <a:ext cx="11661058" cy="523220"/>
          </a:xfrm>
          <a:prstGeom prst="rect">
            <a:avLst/>
          </a:prstGeom>
          <a:noFill/>
        </p:spPr>
        <p:txBody>
          <a:bodyPr wrap="square" rtlCol="0">
            <a:spAutoFit/>
          </a:bodyPr>
          <a:lstStyle/>
          <a:p>
            <a:r>
              <a:rPr lang="en-US" sz="2800" b="1" dirty="0"/>
              <a:t>Module Description</a:t>
            </a:r>
          </a:p>
        </p:txBody>
      </p:sp>
      <p:sp>
        <p:nvSpPr>
          <p:cNvPr id="3" name="TextBox 2">
            <a:extLst>
              <a:ext uri="{FF2B5EF4-FFF2-40B4-BE49-F238E27FC236}">
                <a16:creationId xmlns:a16="http://schemas.microsoft.com/office/drawing/2014/main" id="{9104D0BD-B23E-C3EE-D4E1-251A8B5A6A05}"/>
              </a:ext>
            </a:extLst>
          </p:cNvPr>
          <p:cNvSpPr txBox="1"/>
          <p:nvPr/>
        </p:nvSpPr>
        <p:spPr>
          <a:xfrm>
            <a:off x="265471" y="792624"/>
            <a:ext cx="11661058" cy="6247864"/>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Generation Module</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Collects and manages motor sensor data such as temperature, vibration, current, and load, either from cloud storage or simulated CSV datasets.</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Processing Module</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Cleans, normalizes, and prepares raw sensor data through preprocessing and feature engineering for accurate model training.</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Prediction Module</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Uses the trained LSTM machine learning model to analyze time-series data and predict equipment failure probability.</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Dashboard Module</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Displays real-time equipment status, prediction results, and historical trends through an interactive web-based interface.</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Authentication Module</a:t>
            </a:r>
          </a:p>
          <a:p>
            <a:pPr marL="342900" indent="-3429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Handles secure user login, role-based access control, and logging of user activities using cloud-based authentication services.</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8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F9CA-5514-810C-9EF3-2C443E56CD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992605-F47C-F551-8C5B-54AD1C5D71FF}"/>
              </a:ext>
            </a:extLst>
          </p:cNvPr>
          <p:cNvSpPr txBox="1"/>
          <p:nvPr/>
        </p:nvSpPr>
        <p:spPr>
          <a:xfrm>
            <a:off x="265471" y="196645"/>
            <a:ext cx="11661058" cy="523220"/>
          </a:xfrm>
          <a:prstGeom prst="rect">
            <a:avLst/>
          </a:prstGeom>
          <a:noFill/>
        </p:spPr>
        <p:txBody>
          <a:bodyPr wrap="square" rtlCol="0">
            <a:spAutoFit/>
          </a:bodyPr>
          <a:lstStyle/>
          <a:p>
            <a:r>
              <a:rPr lang="en-US" sz="2800" b="1" dirty="0"/>
              <a:t>Advantages</a:t>
            </a:r>
          </a:p>
        </p:txBody>
      </p:sp>
      <p:sp>
        <p:nvSpPr>
          <p:cNvPr id="3" name="TextBox 2">
            <a:extLst>
              <a:ext uri="{FF2B5EF4-FFF2-40B4-BE49-F238E27FC236}">
                <a16:creationId xmlns:a16="http://schemas.microsoft.com/office/drawing/2014/main" id="{2BB9DEDD-EB2E-CCF1-948E-CB7AA078FCFF}"/>
              </a:ext>
            </a:extLst>
          </p:cNvPr>
          <p:cNvSpPr txBox="1"/>
          <p:nvPr/>
        </p:nvSpPr>
        <p:spPr>
          <a:xfrm>
            <a:off x="265471" y="792624"/>
            <a:ext cx="11661058" cy="4401205"/>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Proactive Failure Prevention &amp; Asset Longevity: Reduces unexpected breakdowns and significantly increases equipment lifespan by continuously monitoring performance to detect early degradation and predict potential failures in advance.</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Cost Optimization &amp; Operational Efficiency: Minimizes maintenance costs and improves overall efficiency by shifting from reactive repairs to planned, condition-based maintenance, optimizing schedules, and reducing production downtime.</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Monitoring &amp; Agile Decision-Making: Provides real-time visibility into vital equipment health parameters, enabling faster, data-driven decision-making and enhanced operational control.</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Scalable &amp; Secure Cloud Infrastructure: Leverages scalable cloud capabilities to efficiently handle increasing data volumes and multiple equipment units, while protecting sensitive operational information through secure data storage, authentication, and controlled access.</a:t>
            </a:r>
          </a:p>
        </p:txBody>
      </p:sp>
    </p:spTree>
    <p:extLst>
      <p:ext uri="{BB962C8B-B14F-4D97-AF65-F5344CB8AC3E}">
        <p14:creationId xmlns:p14="http://schemas.microsoft.com/office/powerpoint/2010/main" val="1234258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3BBA8-B8D0-5172-4DAB-38AE30A4FE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D2427E-4EC1-15BA-8FE3-864B77F1F6D4}"/>
              </a:ext>
            </a:extLst>
          </p:cNvPr>
          <p:cNvSpPr txBox="1"/>
          <p:nvPr/>
        </p:nvSpPr>
        <p:spPr>
          <a:xfrm>
            <a:off x="265471" y="196645"/>
            <a:ext cx="11661058" cy="523220"/>
          </a:xfrm>
          <a:prstGeom prst="rect">
            <a:avLst/>
          </a:prstGeom>
          <a:noFill/>
        </p:spPr>
        <p:txBody>
          <a:bodyPr wrap="square" rtlCol="0">
            <a:spAutoFit/>
          </a:bodyPr>
          <a:lstStyle/>
          <a:p>
            <a:r>
              <a:rPr lang="en-US" sz="2800" b="1" dirty="0"/>
              <a:t>Limitations</a:t>
            </a:r>
          </a:p>
        </p:txBody>
      </p:sp>
      <p:sp>
        <p:nvSpPr>
          <p:cNvPr id="3" name="TextBox 2">
            <a:extLst>
              <a:ext uri="{FF2B5EF4-FFF2-40B4-BE49-F238E27FC236}">
                <a16:creationId xmlns:a16="http://schemas.microsoft.com/office/drawing/2014/main" id="{C2F5C7FC-FABD-3E47-2198-3CAB2FE629EC}"/>
              </a:ext>
            </a:extLst>
          </p:cNvPr>
          <p:cNvSpPr txBox="1"/>
          <p:nvPr/>
        </p:nvSpPr>
        <p:spPr>
          <a:xfrm>
            <a:off x="265471" y="792624"/>
            <a:ext cx="11661058" cy="317009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Quality &amp; Model Reliability: The effectiveness and accuracy of the machine learning model heavily depend on the quality of its training data; accurate, balanced historical data is essential to ensure reliable failure predictions.</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High Initial Investment: Implementing the system involves significant upfront costs related to configuring cloud infrastructure, system development, and initial model training.</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Continuous Connectivity Requirement: The system strictly requires stable, uninterrupted internet connectivity to facilitate continuous cloud access, real-time monitoring, and seamless data synchronization.</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2887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6D6C7-B3A5-11E1-4236-039746EDE8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B59113-A7F0-50AA-9CEE-BF22A6A13FAE}"/>
              </a:ext>
            </a:extLst>
          </p:cNvPr>
          <p:cNvSpPr txBox="1"/>
          <p:nvPr/>
        </p:nvSpPr>
        <p:spPr>
          <a:xfrm>
            <a:off x="265471" y="196645"/>
            <a:ext cx="11661058" cy="523220"/>
          </a:xfrm>
          <a:prstGeom prst="rect">
            <a:avLst/>
          </a:prstGeom>
          <a:noFill/>
        </p:spPr>
        <p:txBody>
          <a:bodyPr wrap="square" rtlCol="0">
            <a:spAutoFit/>
          </a:bodyPr>
          <a:lstStyle/>
          <a:p>
            <a:r>
              <a:rPr lang="en-US" sz="2800" b="1" dirty="0"/>
              <a:t>Conclusions</a:t>
            </a:r>
          </a:p>
        </p:txBody>
      </p:sp>
      <p:sp>
        <p:nvSpPr>
          <p:cNvPr id="3" name="TextBox 2">
            <a:extLst>
              <a:ext uri="{FF2B5EF4-FFF2-40B4-BE49-F238E27FC236}">
                <a16:creationId xmlns:a16="http://schemas.microsoft.com/office/drawing/2014/main" id="{1745D2C3-CF35-4491-5653-CA91001EC5D2}"/>
              </a:ext>
            </a:extLst>
          </p:cNvPr>
          <p:cNvSpPr txBox="1"/>
          <p:nvPr/>
        </p:nvSpPr>
        <p:spPr>
          <a:xfrm>
            <a:off x="265471" y="792624"/>
            <a:ext cx="11661058" cy="317009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Proactive Equipment Care system presents an intelligent and scalable approach to predictive maintenance by integrating cloud computing, data analytics, and deep learning technologies. By continuously collecting and analyzing equipment data, the system enables early detection of potential failures and supports proactive maintenance planning. The implementation of an LSTM-based model enhances prediction accuracy, allowing industries to receive alerts 24–48 hours before possible breakdowns.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Overall, this project successfully demonstrates how cloud-integrated analytics can transform traditional reactive maintenance into a data-driven, predictive maintenance strategy. By reducing downtime, lowering maintenance costs, and improving equipment reliability, the system contributes to increased productivity, operational efficiency, and long-term industrial sustainability.</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2433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80605-1075-6E4B-05C2-4D6055C503A9}"/>
              </a:ext>
            </a:extLst>
          </p:cNvPr>
          <p:cNvSpPr txBox="1"/>
          <p:nvPr/>
        </p:nvSpPr>
        <p:spPr>
          <a:xfrm>
            <a:off x="4424516" y="2921168"/>
            <a:ext cx="3562450" cy="1015663"/>
          </a:xfrm>
          <a:prstGeom prst="rect">
            <a:avLst/>
          </a:prstGeom>
          <a:noFill/>
        </p:spPr>
        <p:txBody>
          <a:bodyPr wrap="none" rtlCol="0">
            <a:spAutoFit/>
          </a:bodyPr>
          <a:lstStyle/>
          <a:p>
            <a:r>
              <a:rPr lang="en-US" sz="6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1736730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1182</Words>
  <Application>Microsoft Office PowerPoint</Application>
  <PresentationFormat>Widescreen</PresentationFormat>
  <Paragraphs>152</Paragraphs>
  <Slides>17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Pratham Prajapati</dc:creator>
  <cp:lastModifiedBy>Pratham Prajapati</cp:lastModifiedBy>
  <cp:revision>11</cp:revision>
  <dcterms:created xsi:type="dcterms:W3CDTF">2026-02-15T12:42:27Z</dcterms:created>
  <dcterms:modified xsi:type="dcterms:W3CDTF">2026-04-08T07:15:44Z</dcterms:modified>
</cp:coreProperties>
</file>